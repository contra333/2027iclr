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A0A90B-E22E-4D25-95A3-D987D38E94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70C751C5-952F-4E31-A99E-4B2762F4E33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>
              <a:ext uri="{FF2B5EF4-FFF2-40B4-BE49-F238E27FC236}">
                <a16:creationId xmlns:a16="http://schemas.microsoft.com/office/drawing/2014/main" id="{0C352E96-CACF-40A4-9E53-A3889DFDB093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MEETING FRAME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5B7845-DF28-4613-B681-45171F7C91A2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50" b="1" dirty="0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5/20 </a:t>
            </a:r>
            <a:r>
              <a:rPr lang="ko-KR" altLang="en-US" sz="1050" b="1" dirty="0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연구 보고</a:t>
            </a:r>
            <a:endParaRPr sz="1050" b="1" dirty="0">
              <a:solidFill>
                <a:srgbClr val="2C67B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A5FC8E-61A7-472B-A06D-FD4DA475BB6C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6858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Accuracy만 맞추면</a:t>
            </a:r>
          </a:p>
          <a:p>
            <a:pPr algn="l">
              <a:def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optimizer 비교는 공정한가?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092DE6-3372-4999-949F-3C7CA906D5D8}"/>
              </a:ext>
            </a:extLst>
          </p:cNvPr>
          <p:cNvSpPr>
            <a:spLocks noGrp="1"/>
          </p:cNvSpPr>
          <p:nvPr/>
        </p:nvSpPr>
        <p:spPr>
          <a:xfrm>
            <a:off x="552450" y="2495550"/>
            <a:ext cx="6858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목표는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결과값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확정이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WRN350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본실험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전에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공정비교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protocol과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metric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설계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근거를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고정하는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것입니다</a:t>
            </a:r>
            <a:r>
              <a:rPr sz="1425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294058-AD1B-403B-BB4E-E06C36EB5811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1257300" cy="285750"/>
          </a:xfrm>
          <a:prstGeom prst="rect">
            <a:avLst/>
          </a:prstGeom>
          <a:solidFill>
            <a:srgbClr val="F2E1DC"/>
          </a:solidFill>
          <a:ln w="9525">
            <a:solidFill>
              <a:srgbClr val="B64A3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8396C0-3730-42A5-A009-5F4790A69212}"/>
              </a:ext>
            </a:extLst>
          </p:cNvPr>
          <p:cNvSpPr>
            <a:spLocks noGrp="1"/>
          </p:cNvSpPr>
          <p:nvPr/>
        </p:nvSpPr>
        <p:spPr>
          <a:xfrm>
            <a:off x="647700" y="331470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결과 보고 아님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439A68-2E0B-4F3C-A4D6-97FD35BAA08E}"/>
              </a:ext>
            </a:extLst>
          </p:cNvPr>
          <p:cNvSpPr>
            <a:spLocks noGrp="1"/>
          </p:cNvSpPr>
          <p:nvPr/>
        </p:nvSpPr>
        <p:spPr>
          <a:xfrm>
            <a:off x="1924050" y="3295650"/>
            <a:ext cx="1333500" cy="285750"/>
          </a:xfrm>
          <a:prstGeom prst="rect">
            <a:avLst/>
          </a:prstGeom>
          <a:solidFill>
            <a:srgbClr val="E8EEF7"/>
          </a:solidFill>
          <a:ln w="9525">
            <a:solidFill>
              <a:srgbClr val="2C67B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3671A9-12A6-418A-B9DE-F9CEF8678E1A}"/>
              </a:ext>
            </a:extLst>
          </p:cNvPr>
          <p:cNvSpPr>
            <a:spLocks noGrp="1"/>
          </p:cNvSpPr>
          <p:nvPr/>
        </p:nvSpPr>
        <p:spPr>
          <a:xfrm>
            <a:off x="2019300" y="33147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Protocol lock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0520E1-207A-42C2-84B8-831355E579C2}"/>
              </a:ext>
            </a:extLst>
          </p:cNvPr>
          <p:cNvSpPr>
            <a:spLocks noGrp="1"/>
          </p:cNvSpPr>
          <p:nvPr/>
        </p:nvSpPr>
        <p:spPr>
          <a:xfrm>
            <a:off x="3371850" y="3295650"/>
            <a:ext cx="1466850" cy="285750"/>
          </a:xfrm>
          <a:prstGeom prst="rect">
            <a:avLst/>
          </a:prstGeom>
          <a:solidFill>
            <a:srgbClr val="E8F2EF"/>
          </a:solidFill>
          <a:ln w="9525">
            <a:solidFill>
              <a:srgbClr val="16806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120CF6-6690-435B-9F19-6DFC0EFE9A0A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Metric contract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8681A2-166F-4277-B5F8-877DE646C9D1}"/>
              </a:ext>
            </a:extLst>
          </p:cNvPr>
          <p:cNvSpPr>
            <a:spLocks noGrp="1"/>
          </p:cNvSpPr>
          <p:nvPr/>
        </p:nvSpPr>
        <p:spPr>
          <a:xfrm>
            <a:off x="7810500" y="838200"/>
            <a:ext cx="3333750" cy="4619625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EAEED7-CC2C-415D-803A-41A01FC366E3}"/>
              </a:ext>
            </a:extLst>
          </p:cNvPr>
          <p:cNvSpPr>
            <a:spLocks noGrp="1"/>
          </p:cNvSpPr>
          <p:nvPr/>
        </p:nvSpPr>
        <p:spPr>
          <a:xfrm>
            <a:off x="8096250" y="11239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오늘의 두 파트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E03A97-5C29-43D0-A35D-7EEB61A5BD5D}"/>
              </a:ext>
            </a:extLst>
          </p:cNvPr>
          <p:cNvSpPr>
            <a:spLocks noGrp="1"/>
          </p:cNvSpPr>
          <p:nvPr/>
        </p:nvSpPr>
        <p:spPr>
          <a:xfrm>
            <a:off x="8096250" y="1504950"/>
            <a:ext cx="266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1180A2-F0E3-4BBC-99D7-C5E71981D9B2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323850" cy="323850"/>
          </a:xfrm>
          <a:prstGeom prst="rect">
            <a:avLst/>
          </a:prstGeom>
          <a:solidFill>
            <a:srgbClr val="E8EEF7"/>
          </a:solidFill>
          <a:ln w="9525">
            <a:solidFill>
              <a:srgbClr val="2C67B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5929EB-0CD8-4CE2-845C-F6D6F0B0241F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190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SGD vs Adam vs </a:t>
            </a:r>
            <a:r>
              <a:rPr sz="1238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AdamW</a:t>
            </a:r>
            <a:endParaRPr sz="1238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3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공정비교와</a:t>
            </a:r>
            <a:r>
              <a:rPr sz="1238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hyperparameter </a:t>
            </a:r>
            <a:r>
              <a:rPr sz="1238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</a:t>
            </a:r>
            <a:endParaRPr sz="1238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16DE92-99E7-4D96-838F-9DD2BD5198E2}"/>
              </a:ext>
            </a:extLst>
          </p:cNvPr>
          <p:cNvSpPr>
            <a:spLocks noGrp="1"/>
          </p:cNvSpPr>
          <p:nvPr/>
        </p:nvSpPr>
        <p:spPr>
          <a:xfrm>
            <a:off x="8096250" y="2724150"/>
            <a:ext cx="323850" cy="323850"/>
          </a:xfrm>
          <a:prstGeom prst="rect">
            <a:avLst/>
          </a:prstGeom>
          <a:solidFill>
            <a:srgbClr val="E8F2EF"/>
          </a:solidFill>
          <a:ln w="9525">
            <a:solidFill>
              <a:srgbClr val="16806A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007E4C-5A12-40B7-9036-F82AE091B109}"/>
              </a:ext>
            </a:extLst>
          </p:cNvPr>
          <p:cNvSpPr>
            <a:spLocks noGrp="1"/>
          </p:cNvSpPr>
          <p:nvPr/>
        </p:nvSpPr>
        <p:spPr>
          <a:xfrm>
            <a:off x="8553450" y="2686050"/>
            <a:ext cx="2190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추가 metric 정의와</a:t>
            </a:r>
          </a:p>
          <a:p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feature geometry 해석 계획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8B27BD5-7B18-4C89-8F4F-5B521C2EC8EA}"/>
              </a:ext>
            </a:extLst>
          </p:cNvPr>
          <p:cNvSpPr>
            <a:spLocks noGrp="1"/>
          </p:cNvSpPr>
          <p:nvPr/>
        </p:nvSpPr>
        <p:spPr>
          <a:xfrm>
            <a:off x="8096250" y="3657600"/>
            <a:ext cx="266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A77DAB5-D7BF-4B98-BCCC-B933F860B3F9}"/>
              </a:ext>
            </a:extLst>
          </p:cNvPr>
          <p:cNvSpPr>
            <a:spLocks noGrp="1"/>
          </p:cNvSpPr>
          <p:nvPr/>
        </p:nvSpPr>
        <p:spPr>
          <a:xfrm>
            <a:off x="8096250" y="39243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Boundary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48DD823-7D14-4F4B-A470-02207B877B2B}"/>
              </a:ext>
            </a:extLst>
          </p:cNvPr>
          <p:cNvSpPr>
            <a:spLocks noGrp="1"/>
          </p:cNvSpPr>
          <p:nvPr/>
        </p:nvSpPr>
        <p:spPr>
          <a:xfrm>
            <a:off x="8096250" y="419100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WRN350 full metric은 아직 confirmed result가 아니며, M1 smoke는 pipeline validation으로만 사용합니다.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93D6C6-7871-4B18-AB8E-613B09D08774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16C3B8-971B-46B1-859F-5EE2D3E23A06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426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592A0C-62DF-4142-B913-CE2E5D09A1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17B33941-B9A1-4EEA-AFFB-737B80E56F9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0DAAF815-BDEC-4040-96DA-BFC6EA015D80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FAIRNESS PRINCIPLE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FFCD32-209C-4D8C-AFE6-9A061928EFDE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133936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공정비교는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숫자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LR이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confound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budget입니다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906A01-F4E4-4C2E-AA73-B144F7B11DA1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5AE011-985A-4474-9AC7-487E4F2D2F18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EB14D4-17AE-4CE1-BA31-4AF9E5A884E0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optimizer가 feature geometry를 바꾸는지 보려면 optimizer 외 조건이 흔들리면 안 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CAB803-1F3B-45EB-A7FB-EF75F3E37874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3543300" cy="24003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173FE3-54FB-4FBD-AB48-9E610C5E63C0}"/>
              </a:ext>
            </a:extLst>
          </p:cNvPr>
          <p:cNvSpPr>
            <a:spLocks noGrp="1"/>
          </p:cNvSpPr>
          <p:nvPr/>
        </p:nvSpPr>
        <p:spPr>
          <a:xfrm>
            <a:off x="1009650" y="24955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고정하는 것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A82111-2A18-40EB-9CEC-DBFB0D252E40}"/>
              </a:ext>
            </a:extLst>
          </p:cNvPr>
          <p:cNvSpPr>
            <a:spLocks noGrp="1"/>
          </p:cNvSpPr>
          <p:nvPr/>
        </p:nvSpPr>
        <p:spPr>
          <a:xfrm>
            <a:off x="1028700" y="300037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A08A3B-FB2C-48E2-9EC0-FB1EE58654A2}"/>
              </a:ext>
            </a:extLst>
          </p:cNvPr>
          <p:cNvSpPr>
            <a:spLocks noGrp="1"/>
          </p:cNvSpPr>
          <p:nvPr/>
        </p:nvSpPr>
        <p:spPr>
          <a:xfrm>
            <a:off x="1200150" y="29337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dataset / OOD set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2CC687-63BC-40EE-BE1B-A9113EF1D345}"/>
              </a:ext>
            </a:extLst>
          </p:cNvPr>
          <p:cNvSpPr>
            <a:spLocks noGrp="1"/>
          </p:cNvSpPr>
          <p:nvPr/>
        </p:nvSpPr>
        <p:spPr>
          <a:xfrm>
            <a:off x="1028700" y="33623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81E190-7B9E-46F6-901A-E2C2D9E07C6D}"/>
              </a:ext>
            </a:extLst>
          </p:cNvPr>
          <p:cNvSpPr>
            <a:spLocks noGrp="1"/>
          </p:cNvSpPr>
          <p:nvPr/>
        </p:nvSpPr>
        <p:spPr>
          <a:xfrm>
            <a:off x="1200150" y="32956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architecture / feature layer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72884E-B863-46CD-80DF-DC85756CE27A}"/>
              </a:ext>
            </a:extLst>
          </p:cNvPr>
          <p:cNvSpPr>
            <a:spLocks noGrp="1"/>
          </p:cNvSpPr>
          <p:nvPr/>
        </p:nvSpPr>
        <p:spPr>
          <a:xfrm>
            <a:off x="1028700" y="372427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F1F099-97BB-4D82-BD30-FF5E98AEDDB1}"/>
              </a:ext>
            </a:extLst>
          </p:cNvPr>
          <p:cNvSpPr>
            <a:spLocks noGrp="1"/>
          </p:cNvSpPr>
          <p:nvPr/>
        </p:nvSpPr>
        <p:spPr>
          <a:xfrm>
            <a:off x="1200150" y="36576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augmentation / schedule / epoch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8D2640-24AF-4403-B942-1DC64A63C0E0}"/>
              </a:ext>
            </a:extLst>
          </p:cNvPr>
          <p:cNvSpPr>
            <a:spLocks noGrp="1"/>
          </p:cNvSpPr>
          <p:nvPr/>
        </p:nvSpPr>
        <p:spPr>
          <a:xfrm>
            <a:off x="1028700" y="40862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153C4C-DC7D-486B-A0D3-0444046FC126}"/>
              </a:ext>
            </a:extLst>
          </p:cNvPr>
          <p:cNvSpPr>
            <a:spLocks noGrp="1"/>
          </p:cNvSpPr>
          <p:nvPr/>
        </p:nvSpPr>
        <p:spPr>
          <a:xfrm>
            <a:off x="1200150" y="40195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seed policy / total WD / WD policy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AD4DC5-AA5B-460E-8C17-BA3CE815FED6}"/>
              </a:ext>
            </a:extLst>
          </p:cNvPr>
          <p:cNvSpPr>
            <a:spLocks noGrp="1"/>
          </p:cNvSpPr>
          <p:nvPr/>
        </p:nvSpPr>
        <p:spPr>
          <a:xfrm>
            <a:off x="7924800" y="2247900"/>
            <a:ext cx="3543300" cy="24003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66A247B-9730-41A7-BB25-866F8B4D3A6E}"/>
              </a:ext>
            </a:extLst>
          </p:cNvPr>
          <p:cNvSpPr>
            <a:spLocks noGrp="1"/>
          </p:cNvSpPr>
          <p:nvPr/>
        </p:nvSpPr>
        <p:spPr>
          <a:xfrm>
            <a:off x="8210550" y="24955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바꾸는 것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C0FBA-19CA-41A3-92B2-DF94AE34174D}"/>
              </a:ext>
            </a:extLst>
          </p:cNvPr>
          <p:cNvSpPr>
            <a:spLocks noGrp="1"/>
          </p:cNvSpPr>
          <p:nvPr/>
        </p:nvSpPr>
        <p:spPr>
          <a:xfrm>
            <a:off x="8229600" y="300037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78E133-BC19-4BA0-BE9A-44A6B82B36A9}"/>
              </a:ext>
            </a:extLst>
          </p:cNvPr>
          <p:cNvSpPr>
            <a:spLocks noGrp="1"/>
          </p:cNvSpPr>
          <p:nvPr/>
        </p:nvSpPr>
        <p:spPr>
          <a:xfrm>
            <a:off x="8401050" y="29337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optimizer update semantics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4FFFF1-A97D-452B-98EE-98BE11DD5627}"/>
              </a:ext>
            </a:extLst>
          </p:cNvPr>
          <p:cNvSpPr>
            <a:spLocks noGrp="1"/>
          </p:cNvSpPr>
          <p:nvPr/>
        </p:nvSpPr>
        <p:spPr>
          <a:xfrm>
            <a:off x="8229600" y="336232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E3D062-069C-40B7-969A-E01EF95AA03E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Adam vs AdamW WD coupling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7DA8578-408F-4C70-B9FD-CF8025F17566}"/>
              </a:ext>
            </a:extLst>
          </p:cNvPr>
          <p:cNvSpPr>
            <a:spLocks noGrp="1"/>
          </p:cNvSpPr>
          <p:nvPr/>
        </p:nvSpPr>
        <p:spPr>
          <a:xfrm>
            <a:off x="8229600" y="372427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1786D5-3BA1-4DCB-8BB0-0EB7632F4B06}"/>
              </a:ext>
            </a:extLst>
          </p:cNvPr>
          <p:cNvSpPr>
            <a:spLocks noGrp="1"/>
          </p:cNvSpPr>
          <p:nvPr/>
        </p:nvSpPr>
        <p:spPr>
          <a:xfrm>
            <a:off x="8401050" y="36576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controlled r in Adam-to-AdamW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0A87C6-6962-4E6C-B47E-BD800D89BFCD}"/>
              </a:ext>
            </a:extLst>
          </p:cNvPr>
          <p:cNvSpPr>
            <a:spLocks noGrp="1"/>
          </p:cNvSpPr>
          <p:nvPr/>
        </p:nvSpPr>
        <p:spPr>
          <a:xfrm>
            <a:off x="8229600" y="408622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1D5109-7321-4E0F-8C21-999C2A106FB0}"/>
              </a:ext>
            </a:extLst>
          </p:cNvPr>
          <p:cNvSpPr>
            <a:spLocks noGrp="1"/>
          </p:cNvSpPr>
          <p:nvPr/>
        </p:nvSpPr>
        <p:spPr>
          <a:xfrm>
            <a:off x="8401050" y="40195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ID-tuned layer only after declared grid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9FACF2-55ED-404D-8CF7-5EBCB3A99622}"/>
              </a:ext>
            </a:extLst>
          </p:cNvPr>
          <p:cNvSpPr>
            <a:spLocks noGrp="1"/>
          </p:cNvSpPr>
          <p:nvPr/>
        </p:nvSpPr>
        <p:spPr>
          <a:xfrm>
            <a:off x="4724400" y="2952750"/>
            <a:ext cx="2743200" cy="3810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9F5478-98F6-4224-A5DC-96B281AEA248}"/>
              </a:ext>
            </a:extLst>
          </p:cNvPr>
          <p:cNvSpPr>
            <a:spLocks noGrp="1"/>
          </p:cNvSpPr>
          <p:nvPr/>
        </p:nvSpPr>
        <p:spPr>
          <a:xfrm>
            <a:off x="5953125" y="2324100"/>
            <a:ext cx="285750" cy="131445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5FE1C6-1BBC-4777-8055-79265B32FFA8}"/>
              </a:ext>
            </a:extLst>
          </p:cNvPr>
          <p:cNvSpPr>
            <a:spLocks noGrp="1"/>
          </p:cNvSpPr>
          <p:nvPr/>
        </p:nvSpPr>
        <p:spPr>
          <a:xfrm>
            <a:off x="4629150" y="2266950"/>
            <a:ext cx="2933700" cy="1809750"/>
          </a:xfrm>
          <a:prstGeom prst="rect">
            <a:avLst/>
          </a:prstGeom>
          <a:solidFill>
            <a:srgbClr val="E8EEF7"/>
          </a:solidFill>
          <a:ln w="9525">
            <a:solidFill>
              <a:srgbClr val="2C67B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91A014-2202-4BAB-961A-4EDDA1E14EFD}"/>
              </a:ext>
            </a:extLst>
          </p:cNvPr>
          <p:cNvSpPr>
            <a:spLocks noGrp="1"/>
          </p:cNvSpPr>
          <p:nvPr/>
        </p:nvSpPr>
        <p:spPr>
          <a:xfrm>
            <a:off x="4914900" y="257175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central claim test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853732A-DEBF-4A63-B4BB-715BEDE83E04}"/>
              </a:ext>
            </a:extLst>
          </p:cNvPr>
          <p:cNvSpPr>
            <a:spLocks noGrp="1"/>
          </p:cNvSpPr>
          <p:nvPr/>
        </p:nvSpPr>
        <p:spPr>
          <a:xfrm>
            <a:off x="4914900" y="2857500"/>
            <a:ext cx="2362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optimizer-induced</a:t>
            </a:r>
          </a:p>
          <a:p>
            <a:pPr algn="ctr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feature geometry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843838-9759-4AEA-A0AA-C517B62F9A90}"/>
              </a:ext>
            </a:extLst>
          </p:cNvPr>
          <p:cNvSpPr>
            <a:spLocks noGrp="1"/>
          </p:cNvSpPr>
          <p:nvPr/>
        </p:nvSpPr>
        <p:spPr>
          <a:xfrm>
            <a:off x="4838700" y="3581400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Confounds locked so detector changes can be read mechanistically.</a:t>
            </a:r>
          </a:p>
        </p:txBody>
      </p:sp>
    </p:spTree>
    <p:extLst>
      <p:ext uri="{BB962C8B-B14F-4D97-AF65-F5344CB8AC3E}">
        <p14:creationId xmlns:p14="http://schemas.microsoft.com/office/powerpoint/2010/main" val="108303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427CCAC2-7740-41BB-829D-DB6E136327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246913CA-64EC-40DD-ADE7-CF9BCC5290A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051EC3EB-9F14-4B97-86D9-1C269A12D1CF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OPTIMIZER MECHANICS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F5A122-D88F-44FB-9E73-3DFB4781F75A}"/>
              </a:ext>
            </a:extLst>
          </p:cNvPr>
          <p:cNvSpPr>
            <a:spLocks noGrp="1"/>
          </p:cNvSpPr>
          <p:nvPr/>
        </p:nvSpPr>
        <p:spPr>
          <a:xfrm>
            <a:off x="533399" y="685800"/>
            <a:ext cx="8777377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세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optimizer는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loss를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보더라도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업데이트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채널이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다릅니다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ECD0CA-6FB4-45E5-846C-DB26ED0DC9F5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FDEA63-A700-4025-B152-820D0CC032BC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5A6C92-EB2A-4B10-8F3D-404F1EB521C8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3181350" cy="35814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D871E2-108B-47C9-B536-AF326E420E8A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SGD + Momentum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51619F-1A3B-4681-96A7-7C49B1D6DDC6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global LR + momentum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585556-1B05-41C1-963F-A8E3CDD4290F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7241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F8A3EE-01C3-4849-B8A2-4273CC3F0461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2667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p &lt;- p - lr * (grad + momentum)</a:t>
            </a:r>
          </a:p>
          <a:p>
            <a:pPr algn="l">
              <a:def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WD is coupled through the optimizer step.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FF7577-38A7-4FDB-9B89-59E441993574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2667000" cy="381000"/>
          </a:xfrm>
          <a:prstGeom prst="rect">
            <a:avLst/>
          </a:prstGeom>
          <a:solidFill>
            <a:srgbClr val="E8EEF7"/>
          </a:solidFill>
          <a:ln w="9525">
            <a:solidFill>
              <a:srgbClr val="2C67B1"/>
            </a:solidFill>
            <a:prstDash val="solid"/>
          </a:ln>
        </p:spPr>
        <p:txBody>
          <a:bodyPr lIns="114300" tIns="76200" rIns="114300" bIns="76200" anchor="t"/>
          <a:lstStyle/>
          <a:p>
            <a:pPr algn="l">
              <a:defRPr sz="101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CIFAR CNN canonical baseline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7736FA-003F-49D8-BA52-6AEF11D4F83A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2667000" cy="171450"/>
          </a:xfrm>
          <a:prstGeom prst="rect">
            <a:avLst/>
          </a:prstGeom>
          <a:solidFill>
            <a:srgbClr val="EFE8DD"/>
          </a:solidFill>
          <a:ln w="9525">
            <a:solidFill>
              <a:srgbClr val="EFE8DD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63FC14-4387-47B0-A9EC-413DB83C5B1A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1973580" cy="171450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D53D1E-7195-43A6-967F-83D513E8A6A3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baseline familiarity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5A4250-74B5-4427-A170-5A0C32CC93D5}"/>
              </a:ext>
            </a:extLst>
          </p:cNvPr>
          <p:cNvSpPr>
            <a:spLocks noGrp="1"/>
          </p:cNvSpPr>
          <p:nvPr/>
        </p:nvSpPr>
        <p:spPr>
          <a:xfrm>
            <a:off x="4305300" y="1695450"/>
            <a:ext cx="3181350" cy="35814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502411-3B58-45FC-B2D6-7EBEE9DE9E0C}"/>
              </a:ext>
            </a:extLst>
          </p:cNvPr>
          <p:cNvSpPr>
            <a:spLocks noGrp="1"/>
          </p:cNvSpPr>
          <p:nvPr/>
        </p:nvSpPr>
        <p:spPr>
          <a:xfrm>
            <a:off x="453390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Adam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3C0ADFE-C676-4ADF-A72D-9B25AAB5F57F}"/>
              </a:ext>
            </a:extLst>
          </p:cNvPr>
          <p:cNvSpPr>
            <a:spLocks noGrp="1"/>
          </p:cNvSpPr>
          <p:nvPr/>
        </p:nvSpPr>
        <p:spPr>
          <a:xfrm>
            <a:off x="4533900" y="2266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coordinate-wise adaptive moments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A3FE0F-6EC3-4F06-B69D-57ACC7E0E52B}"/>
              </a:ext>
            </a:extLst>
          </p:cNvPr>
          <p:cNvSpPr>
            <a:spLocks noGrp="1"/>
          </p:cNvSpPr>
          <p:nvPr/>
        </p:nvSpPr>
        <p:spPr>
          <a:xfrm>
            <a:off x="4533900" y="2686050"/>
            <a:ext cx="27241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1BB069-A139-4D1E-BD58-6D8CA1AA9DD5}"/>
              </a:ext>
            </a:extLst>
          </p:cNvPr>
          <p:cNvSpPr>
            <a:spLocks noGrp="1"/>
          </p:cNvSpPr>
          <p:nvPr/>
        </p:nvSpPr>
        <p:spPr>
          <a:xfrm>
            <a:off x="4533900" y="2914650"/>
            <a:ext cx="2667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m,v track an effective gradient.</a:t>
            </a:r>
          </a:p>
          <a:p>
            <a:pPr algn="l">
              <a:def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Coupled WD can affect moment estimates.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F9E922-E3EC-4BF2-9080-A82144473899}"/>
              </a:ext>
            </a:extLst>
          </p:cNvPr>
          <p:cNvSpPr>
            <a:spLocks noGrp="1"/>
          </p:cNvSpPr>
          <p:nvPr/>
        </p:nvSpPr>
        <p:spPr>
          <a:xfrm>
            <a:off x="4533900" y="4038600"/>
            <a:ext cx="2667000" cy="381000"/>
          </a:xfrm>
          <a:prstGeom prst="rect">
            <a:avLst/>
          </a:prstGeom>
          <a:solidFill>
            <a:srgbClr val="F4E7D8"/>
          </a:solidFill>
          <a:ln w="9525">
            <a:solidFill>
              <a:srgbClr val="C77724"/>
            </a:solidFill>
            <a:prstDash val="solid"/>
          </a:ln>
        </p:spPr>
        <p:txBody>
          <a:bodyPr lIns="114300" tIns="76200" rIns="114300" bIns="76200" anchor="t"/>
          <a:lstStyle/>
          <a:p>
            <a:pPr algn="l">
              <a:defRPr sz="101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fast/stable but coupled WD enters moments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0E8D2A-D705-4892-8ABD-4126074C0659}"/>
              </a:ext>
            </a:extLst>
          </p:cNvPr>
          <p:cNvSpPr>
            <a:spLocks noGrp="1"/>
          </p:cNvSpPr>
          <p:nvPr/>
        </p:nvSpPr>
        <p:spPr>
          <a:xfrm>
            <a:off x="4533900" y="4705350"/>
            <a:ext cx="2667000" cy="171450"/>
          </a:xfrm>
          <a:prstGeom prst="rect">
            <a:avLst/>
          </a:prstGeom>
          <a:solidFill>
            <a:srgbClr val="EFE8DD"/>
          </a:solidFill>
          <a:ln w="9525">
            <a:solidFill>
              <a:srgbClr val="EFE8DD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F90311-9F82-4947-9EC4-6B33BD42B9C0}"/>
              </a:ext>
            </a:extLst>
          </p:cNvPr>
          <p:cNvSpPr>
            <a:spLocks noGrp="1"/>
          </p:cNvSpPr>
          <p:nvPr/>
        </p:nvSpPr>
        <p:spPr>
          <a:xfrm>
            <a:off x="4533900" y="4705350"/>
            <a:ext cx="1386840" cy="171450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9559B8-FC25-45D6-A605-57EFA380DA92}"/>
              </a:ext>
            </a:extLst>
          </p:cNvPr>
          <p:cNvSpPr>
            <a:spLocks noGrp="1"/>
          </p:cNvSpPr>
          <p:nvPr/>
        </p:nvSpPr>
        <p:spPr>
          <a:xfrm>
            <a:off x="4610100" y="4714875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adaptive speed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0F06DF0-F643-4F7F-B7FA-B667A58D83EA}"/>
              </a:ext>
            </a:extLst>
          </p:cNvPr>
          <p:cNvSpPr>
            <a:spLocks noGrp="1"/>
          </p:cNvSpPr>
          <p:nvPr/>
        </p:nvSpPr>
        <p:spPr>
          <a:xfrm>
            <a:off x="8058150" y="1695450"/>
            <a:ext cx="3181350" cy="35814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796848-8E63-434F-8610-392DEF35BEE1}"/>
              </a:ext>
            </a:extLst>
          </p:cNvPr>
          <p:cNvSpPr>
            <a:spLocks noGrp="1"/>
          </p:cNvSpPr>
          <p:nvPr/>
        </p:nvSpPr>
        <p:spPr>
          <a:xfrm>
            <a:off x="8286750" y="1943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AdamW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4177CB-4E08-48FF-A470-55EE66E9FD33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Adam update + decoupled WD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3C8334F-AA94-45BF-A9B7-04E821109F6C}"/>
              </a:ext>
            </a:extLst>
          </p:cNvPr>
          <p:cNvSpPr>
            <a:spLocks noGrp="1"/>
          </p:cNvSpPr>
          <p:nvPr/>
        </p:nvSpPr>
        <p:spPr>
          <a:xfrm>
            <a:off x="8286750" y="2686050"/>
            <a:ext cx="27241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AA109E6-35BB-4CC6-B7D2-F37F04CB1E67}"/>
              </a:ext>
            </a:extLst>
          </p:cNvPr>
          <p:cNvSpPr>
            <a:spLocks noGrp="1"/>
          </p:cNvSpPr>
          <p:nvPr/>
        </p:nvSpPr>
        <p:spPr>
          <a:xfrm>
            <a:off x="8286750" y="2914650"/>
            <a:ext cx="2667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Adam step uses m,v.</a:t>
            </a:r>
          </a:p>
          <a:p>
            <a:pPr algn="l">
              <a:def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WD shrinks weights separately from moments.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CA1E11C-5A2C-4EAA-ABEE-7222851222F0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2667000" cy="381000"/>
          </a:xfrm>
          <a:prstGeom prst="rect">
            <a:avLst/>
          </a:prstGeom>
          <a:solidFill>
            <a:srgbClr val="E8F2EF"/>
          </a:solidFill>
          <a:ln w="9525">
            <a:solidFill>
              <a:srgbClr val="16806A"/>
            </a:solidFill>
            <a:prstDash val="solid"/>
          </a:ln>
        </p:spPr>
        <p:txBody>
          <a:bodyPr lIns="114300" tIns="76200" rIns="114300" bIns="76200" anchor="t"/>
          <a:lstStyle/>
          <a:p>
            <a:pPr algn="l">
              <a:defRPr sz="101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Transformer/ViT default, clean WD semantics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7F49DE-09C2-4282-A773-D72AD36BB91D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667000" cy="171450"/>
          </a:xfrm>
          <a:prstGeom prst="rect">
            <a:avLst/>
          </a:prstGeom>
          <a:solidFill>
            <a:srgbClr val="EFE8DD"/>
          </a:solidFill>
          <a:ln w="9525">
            <a:solidFill>
              <a:srgbClr val="EFE8DD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EBA3E2-43E1-4419-861B-C83B8C258CA8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1706880" cy="171450"/>
          </a:xfrm>
          <a:prstGeom prst="rect">
            <a:avLst/>
          </a:prstGeom>
          <a:solidFill>
            <a:srgbClr val="168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122284-D93A-4786-924A-F07E30D60C57}"/>
              </a:ext>
            </a:extLst>
          </p:cNvPr>
          <p:cNvSpPr>
            <a:spLocks noGrp="1"/>
          </p:cNvSpPr>
          <p:nvPr/>
        </p:nvSpPr>
        <p:spPr>
          <a:xfrm>
            <a:off x="8362950" y="4714875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decoupled WD control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5DB4442-7106-4F7E-AFB0-77C5DD067F0D}"/>
              </a:ext>
            </a:extLst>
          </p:cNvPr>
          <p:cNvSpPr>
            <a:spLocks noGrp="1"/>
          </p:cNvSpPr>
          <p:nvPr/>
        </p:nvSpPr>
        <p:spPr>
          <a:xfrm>
            <a:off x="990600" y="5562600"/>
            <a:ext cx="1019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보고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포인트</a:t>
            </a:r>
            <a:r>
              <a:rPr lang="en-US"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: Adam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계열은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SGD와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numerical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LR을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쓰는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것이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각 optimizer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family의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안정적인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update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scale에서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비교해야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12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753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DCD870D3-667E-44E8-B0AF-65CC073094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3C3AA3A7-85BB-48B7-A9F3-A9DBC2EC8D92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A631BF04-DCFF-499C-BAD7-8322F454A4C6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WD COUPLING AXIS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6B4162-10E3-4C47-8A15-85EBFBD7AF5F}"/>
              </a:ext>
            </a:extLst>
          </p:cNvPr>
          <p:cNvSpPr>
            <a:spLocks noGrp="1"/>
          </p:cNvSpPr>
          <p:nvPr/>
        </p:nvSpPr>
        <p:spPr>
          <a:xfrm>
            <a:off x="533398" y="685800"/>
            <a:ext cx="10287001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AdamW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-to-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Adam은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weight decay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coupling을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직접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sweep하는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축입니다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5AC83-9716-4D8C-A481-7F4F02CC733D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6B8674-405D-4C9C-9E16-99F7B1303613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440C38-BB35-4122-8EFE-5A92FA5A2DA5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total WD는 고정하고, coupled와 decoupled 비율만 바꾸면 geometry intervention이 깔끔해집니다.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66ADD5-A687-414B-AC9A-C65211E42B40}"/>
              </a:ext>
            </a:extLst>
          </p:cNvPr>
          <p:cNvSpPr>
            <a:spLocks noGrp="1"/>
          </p:cNvSpPr>
          <p:nvPr/>
        </p:nvSpPr>
        <p:spPr>
          <a:xfrm>
            <a:off x="1219200" y="2647950"/>
            <a:ext cx="9601200" cy="7620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50DB13-EBAB-4DF2-8CFF-55DF8B8CF731}"/>
              </a:ext>
            </a:extLst>
          </p:cNvPr>
          <p:cNvSpPr>
            <a:spLocks noGrp="1"/>
          </p:cNvSpPr>
          <p:nvPr/>
        </p:nvSpPr>
        <p:spPr>
          <a:xfrm>
            <a:off x="1152525" y="2571750"/>
            <a:ext cx="209550" cy="209550"/>
          </a:xfrm>
          <a:prstGeom prst="rect">
            <a:avLst/>
          </a:prstGeom>
          <a:solidFill>
            <a:srgbClr val="168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B104CC-7888-4378-895D-70AA84035BFF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r=0.0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297FB7-9AEE-40FA-8B49-696DA3A51D26}"/>
              </a:ext>
            </a:extLst>
          </p:cNvPr>
          <p:cNvSpPr>
            <a:spLocks noGrp="1"/>
          </p:cNvSpPr>
          <p:nvPr/>
        </p:nvSpPr>
        <p:spPr>
          <a:xfrm>
            <a:off x="600075" y="3171825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AdamW-style</a:t>
            </a:r>
          </a:p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all decoupled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0A842F-1A36-4017-B4A4-F049445841FE}"/>
              </a:ext>
            </a:extLst>
          </p:cNvPr>
          <p:cNvSpPr>
            <a:spLocks noGrp="1"/>
          </p:cNvSpPr>
          <p:nvPr/>
        </p:nvSpPr>
        <p:spPr>
          <a:xfrm>
            <a:off x="3552825" y="2571750"/>
            <a:ext cx="209550" cy="209550"/>
          </a:xfrm>
          <a:prstGeom prst="rect">
            <a:avLst/>
          </a:prstGeom>
          <a:solidFill>
            <a:srgbClr val="4C59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40EDCA-B55B-42D9-B1E6-FF611B6EB2BB}"/>
              </a:ext>
            </a:extLst>
          </p:cNvPr>
          <p:cNvSpPr>
            <a:spLocks noGrp="1"/>
          </p:cNvSpPr>
          <p:nvPr/>
        </p:nvSpPr>
        <p:spPr>
          <a:xfrm>
            <a:off x="3162300" y="29146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0.25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9583D5-E898-47EC-8238-90F09CECEBA7}"/>
              </a:ext>
            </a:extLst>
          </p:cNvPr>
          <p:cNvSpPr>
            <a:spLocks noGrp="1"/>
          </p:cNvSpPr>
          <p:nvPr/>
        </p:nvSpPr>
        <p:spPr>
          <a:xfrm>
            <a:off x="3000375" y="3171825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optional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8055C2-BDD4-4B7F-94D5-AAF1D8EC09D6}"/>
              </a:ext>
            </a:extLst>
          </p:cNvPr>
          <p:cNvSpPr>
            <a:spLocks noGrp="1"/>
          </p:cNvSpPr>
          <p:nvPr/>
        </p:nvSpPr>
        <p:spPr>
          <a:xfrm>
            <a:off x="5953125" y="2571750"/>
            <a:ext cx="209550" cy="209550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619336-896D-47A3-BD70-DFD7C4D15004}"/>
              </a:ext>
            </a:extLst>
          </p:cNvPr>
          <p:cNvSpPr>
            <a:spLocks noGrp="1"/>
          </p:cNvSpPr>
          <p:nvPr/>
        </p:nvSpPr>
        <p:spPr>
          <a:xfrm>
            <a:off x="5562600" y="29146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0.5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8CA774-0C33-4768-9B9B-5B43591E1D7B}"/>
              </a:ext>
            </a:extLst>
          </p:cNvPr>
          <p:cNvSpPr>
            <a:spLocks noGrp="1"/>
          </p:cNvSpPr>
          <p:nvPr/>
        </p:nvSpPr>
        <p:spPr>
          <a:xfrm>
            <a:off x="5400675" y="3171825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core midpoint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0300D6-261E-4869-9E03-06CFB3AF2323}"/>
              </a:ext>
            </a:extLst>
          </p:cNvPr>
          <p:cNvSpPr>
            <a:spLocks noGrp="1"/>
          </p:cNvSpPr>
          <p:nvPr/>
        </p:nvSpPr>
        <p:spPr>
          <a:xfrm>
            <a:off x="8353425" y="2571750"/>
            <a:ext cx="209550" cy="209550"/>
          </a:xfrm>
          <a:prstGeom prst="rect">
            <a:avLst/>
          </a:prstGeom>
          <a:solidFill>
            <a:srgbClr val="4C59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38E2D9-369A-4304-A1B2-453DDCD3002B}"/>
              </a:ext>
            </a:extLst>
          </p:cNvPr>
          <p:cNvSpPr>
            <a:spLocks noGrp="1"/>
          </p:cNvSpPr>
          <p:nvPr/>
        </p:nvSpPr>
        <p:spPr>
          <a:xfrm>
            <a:off x="7962900" y="29146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0.75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7BBCF4-B6C1-41ED-B7D1-649B2135D028}"/>
              </a:ext>
            </a:extLst>
          </p:cNvPr>
          <p:cNvSpPr>
            <a:spLocks noGrp="1"/>
          </p:cNvSpPr>
          <p:nvPr/>
        </p:nvSpPr>
        <p:spPr>
          <a:xfrm>
            <a:off x="7800975" y="3171825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optional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BD95E5-9B40-4802-9039-C00D0B29A0AF}"/>
              </a:ext>
            </a:extLst>
          </p:cNvPr>
          <p:cNvSpPr>
            <a:spLocks noGrp="1"/>
          </p:cNvSpPr>
          <p:nvPr/>
        </p:nvSpPr>
        <p:spPr>
          <a:xfrm>
            <a:off x="10753725" y="2571750"/>
            <a:ext cx="209550" cy="209550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6679275-1157-46B6-AC3A-B5657103D8FE}"/>
              </a:ext>
            </a:extLst>
          </p:cNvPr>
          <p:cNvSpPr>
            <a:spLocks noGrp="1"/>
          </p:cNvSpPr>
          <p:nvPr/>
        </p:nvSpPr>
        <p:spPr>
          <a:xfrm>
            <a:off x="10363200" y="29146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r=1.0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3BC1A6-A784-4B5B-ACB3-45CF86B42ABD}"/>
              </a:ext>
            </a:extLst>
          </p:cNvPr>
          <p:cNvSpPr>
            <a:spLocks noGrp="1"/>
          </p:cNvSpPr>
          <p:nvPr/>
        </p:nvSpPr>
        <p:spPr>
          <a:xfrm>
            <a:off x="10201275" y="3171825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Adam-style</a:t>
            </a:r>
          </a:p>
          <a:p>
            <a:pPr algn="ctr">
              <a:def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all coupled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B6EB29-ACA7-473C-994D-BE4C4D7ACD21}"/>
              </a:ext>
            </a:extLst>
          </p:cNvPr>
          <p:cNvSpPr>
            <a:spLocks noGrp="1"/>
          </p:cNvSpPr>
          <p:nvPr/>
        </p:nvSpPr>
        <p:spPr>
          <a:xfrm>
            <a:off x="1162050" y="3962400"/>
            <a:ext cx="4476750" cy="10668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6962A6-B658-48D6-AC4E-C5D08B675F4B}"/>
              </a:ext>
            </a:extLst>
          </p:cNvPr>
          <p:cNvSpPr>
            <a:spLocks noGrp="1"/>
          </p:cNvSpPr>
          <p:nvPr/>
        </p:nvSpPr>
        <p:spPr>
          <a:xfrm>
            <a:off x="1409700" y="41910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split contract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81C090-B3FE-4541-B7B8-C8E07C08702D}"/>
              </a:ext>
            </a:extLst>
          </p:cNvPr>
          <p:cNvSpPr>
            <a:spLocks noGrp="1"/>
          </p:cNvSpPr>
          <p:nvPr/>
        </p:nvSpPr>
        <p:spPr>
          <a:xfrm>
            <a:off x="1409700" y="445770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wd_coupled = r * total_weight_decay</a:t>
            </a:r>
          </a:p>
          <a:p>
            <a:pPr algn="l"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wd_decoupled = (1 - r) * total_weight_decay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6B9AAD-948A-4527-B813-ECEB25E76841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4476750" cy="10668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71D238-3CF0-4107-9E3D-BB07DACEF86A}"/>
              </a:ext>
            </a:extLst>
          </p:cNvPr>
          <p:cNvSpPr>
            <a:spLocks noGrp="1"/>
          </p:cNvSpPr>
          <p:nvPr/>
        </p:nvSpPr>
        <p:spPr>
          <a:xfrm>
            <a:off x="6667500" y="41910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reporting boundary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9A70E1-E75C-400E-9F46-B9D50F0742D2}"/>
              </a:ext>
            </a:extLst>
          </p:cNvPr>
          <p:cNvSpPr>
            <a:spLocks noGrp="1"/>
          </p:cNvSpPr>
          <p:nvPr/>
        </p:nvSpPr>
        <p:spPr>
          <a:xfrm>
            <a:off x="6667500" y="4400550"/>
            <a:ext cx="3676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6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r=0/1 are AdamW-style and Adam-style endpoints of the custom controlled optimizer, not full-trajectory clones.</a:t>
            </a:r>
          </a:p>
        </p:txBody>
      </p:sp>
    </p:spTree>
    <p:extLst>
      <p:ext uri="{BB962C8B-B14F-4D97-AF65-F5344CB8AC3E}">
        <p14:creationId xmlns:p14="http://schemas.microsoft.com/office/powerpoint/2010/main" val="198445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28D3994-3B17-4864-9E04-B748B87E88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7A730641-1A92-4D58-A7BC-937D316BFF0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6115BDF8-A285-4C30-B4B9-FFF73E65A450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MATCHED PROTOCOL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89D49B-93FD-4E1B-B7B9-8FE17AE9153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8127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첫 paper-scale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anchor는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optimizer 외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조건을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고정한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matched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protocol입니다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F0A05B-AD14-48CA-9AD3-0146F0F2BF45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4C43AB-CCFC-4671-8DBB-3C0C767E0DEF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120DC0-23E4-422F-8C22-CEDEF9C71431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SGD anchor는 WRN-style canonical setting이고, Adam-family는 안정적인 LR scale을 사용합니다.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F5A6E3-718D-427A-BA92-DED058D80888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10001250" cy="33528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ED31CC-A390-4448-8CF4-A6E7A13F3666}"/>
              </a:ext>
            </a:extLst>
          </p:cNvPr>
          <p:cNvSpPr>
            <a:spLocks noGrp="1"/>
          </p:cNvSpPr>
          <p:nvPr/>
        </p:nvSpPr>
        <p:spPr>
          <a:xfrm>
            <a:off x="876300" y="21621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214FA7-E248-4E03-990F-3D384CA28F0B}"/>
              </a:ext>
            </a:extLst>
          </p:cNvPr>
          <p:cNvSpPr>
            <a:spLocks noGrp="1"/>
          </p:cNvSpPr>
          <p:nvPr/>
        </p:nvSpPr>
        <p:spPr>
          <a:xfrm>
            <a:off x="2686050" y="2162175"/>
            <a:ext cx="390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SGD anchor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9E4F57-0034-4CF9-8498-303BE4F6E94F}"/>
              </a:ext>
            </a:extLst>
          </p:cNvPr>
          <p:cNvSpPr>
            <a:spLocks noGrp="1"/>
          </p:cNvSpPr>
          <p:nvPr/>
        </p:nvSpPr>
        <p:spPr>
          <a:xfrm>
            <a:off x="2590800" y="2076450"/>
            <a:ext cx="9525" cy="335280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57AE36-756E-44F6-ADB6-0487FC2764F2}"/>
              </a:ext>
            </a:extLst>
          </p:cNvPr>
          <p:cNvSpPr>
            <a:spLocks noGrp="1"/>
          </p:cNvSpPr>
          <p:nvPr/>
        </p:nvSpPr>
        <p:spPr>
          <a:xfrm>
            <a:off x="6781800" y="2162175"/>
            <a:ext cx="390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Adam / AdamW matched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43989D-8C04-48BC-9219-565DFF6F1354}"/>
              </a:ext>
            </a:extLst>
          </p:cNvPr>
          <p:cNvSpPr>
            <a:spLocks noGrp="1"/>
          </p:cNvSpPr>
          <p:nvPr/>
        </p:nvSpPr>
        <p:spPr>
          <a:xfrm>
            <a:off x="6686550" y="2076450"/>
            <a:ext cx="9525" cy="335280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B8270F-26D9-46FE-AEBA-EB59F5CEC97E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0001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38A634-AFE1-40BE-9176-CA930CF7F71B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model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9C6EAD-63EC-4FAD-BD6B-91A484B4D319}"/>
              </a:ext>
            </a:extLst>
          </p:cNvPr>
          <p:cNvSpPr>
            <a:spLocks noGrp="1"/>
          </p:cNvSpPr>
          <p:nvPr/>
        </p:nvSpPr>
        <p:spPr>
          <a:xfrm>
            <a:off x="2686050" y="25717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WRN-28-10 dropout 0.3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82D0F8-C1A6-4040-B2C2-473EEFDEF08B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same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8AD281-563D-470E-BDAC-514F25F52B4B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4144F4-2A1E-426B-BEA5-EF1DFE50E2A4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EE5E05-47C4-4619-BF76-A44F45BF05DC}"/>
              </a:ext>
            </a:extLst>
          </p:cNvPr>
          <p:cNvSpPr>
            <a:spLocks noGrp="1"/>
          </p:cNvSpPr>
          <p:nvPr/>
        </p:nvSpPr>
        <p:spPr>
          <a:xfrm>
            <a:off x="2686050" y="29908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CIFAR-10 ID, fixed OOD set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DC183E-6E9B-4D50-BCC2-C5E8E445EAEF}"/>
              </a:ext>
            </a:extLst>
          </p:cNvPr>
          <p:cNvSpPr>
            <a:spLocks noGrp="1"/>
          </p:cNvSpPr>
          <p:nvPr/>
        </p:nvSpPr>
        <p:spPr>
          <a:xfrm>
            <a:off x="6781800" y="29908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same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7A6B3C-A4CF-485D-A73F-0B3A16FF9F08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CAC9B6-5BCA-433A-96A6-784AD9010AAC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epoch / schedule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28F587-B36D-4940-AABE-8FE7A9B85DDF}"/>
              </a:ext>
            </a:extLst>
          </p:cNvPr>
          <p:cNvSpPr>
            <a:spLocks noGrp="1"/>
          </p:cNvSpPr>
          <p:nvPr/>
        </p:nvSpPr>
        <p:spPr>
          <a:xfrm>
            <a:off x="2686050" y="34099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350 epochs, milestones [150, 250]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528AAC-A822-45C1-A5D0-9769A0847A27}"/>
              </a:ext>
            </a:extLst>
          </p:cNvPr>
          <p:cNvSpPr>
            <a:spLocks noGrp="1"/>
          </p:cNvSpPr>
          <p:nvPr/>
        </p:nvSpPr>
        <p:spPr>
          <a:xfrm>
            <a:off x="6781800" y="34099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same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0C93C6F-D6D1-4B19-9726-DC2BF872D2AE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24E007-0FFA-4035-BB23-747CE4323613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optimizer LR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FE737FE-FF86-42EE-AE1D-CFD609D1E43A}"/>
              </a:ext>
            </a:extLst>
          </p:cNvPr>
          <p:cNvSpPr>
            <a:spLocks noGrp="1"/>
          </p:cNvSpPr>
          <p:nvPr/>
        </p:nvSpPr>
        <p:spPr>
          <a:xfrm>
            <a:off x="2686050" y="38290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0.1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4BC468-D5B3-4FAC-A361-AABD9D1E33E1}"/>
              </a:ext>
            </a:extLst>
          </p:cNvPr>
          <p:cNvSpPr>
            <a:spLocks noGrp="1"/>
          </p:cNvSpPr>
          <p:nvPr/>
        </p:nvSpPr>
        <p:spPr>
          <a:xfrm>
            <a:off x="6781800" y="38290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5.0e-3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5AF689-A076-4E8B-97B2-0018CB46C9F7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A46A7F-8AB6-4FED-B66E-A3AD06356C31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momentum / betas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908EBC5-DEB7-4EA5-B69F-5025E74BC065}"/>
              </a:ext>
            </a:extLst>
          </p:cNvPr>
          <p:cNvSpPr>
            <a:spLocks noGrp="1"/>
          </p:cNvSpPr>
          <p:nvPr/>
        </p:nvSpPr>
        <p:spPr>
          <a:xfrm>
            <a:off x="2686050" y="42481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momentum 0.9, Nesterov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094E887-B735-4800-9E28-9FF77F34BD57}"/>
              </a:ext>
            </a:extLst>
          </p:cNvPr>
          <p:cNvSpPr>
            <a:spLocks noGrp="1"/>
          </p:cNvSpPr>
          <p:nvPr/>
        </p:nvSpPr>
        <p:spPr>
          <a:xfrm>
            <a:off x="6781800" y="42481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beta1 0.9, beta2 0.999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A3C2479-7806-40AE-910E-F00CD208E52A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3B2CC64-BC0A-4AC2-8E44-A7BD161173D6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weight decay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AFFBAFA-3A89-4A26-B67D-D3666175A8F0}"/>
              </a:ext>
            </a:extLst>
          </p:cNvPr>
          <p:cNvSpPr>
            <a:spLocks noGrp="1"/>
          </p:cNvSpPr>
          <p:nvPr/>
        </p:nvSpPr>
        <p:spPr>
          <a:xfrm>
            <a:off x="2686050" y="46672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5.0e-4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7959B5-7224-4212-BB62-8205FB235767}"/>
              </a:ext>
            </a:extLst>
          </p:cNvPr>
          <p:cNvSpPr>
            <a:spLocks noGrp="1"/>
          </p:cNvSpPr>
          <p:nvPr/>
        </p:nvSpPr>
        <p:spPr>
          <a:xfrm>
            <a:off x="6781800" y="46672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5.0e-4 total WD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1E12883-3A0C-477E-A605-FF3B80DA2785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B86584C-B51B-417A-9C7B-23AADFDDC384}"/>
              </a:ext>
            </a:extLst>
          </p:cNvPr>
          <p:cNvSpPr>
            <a:spLocks noGrp="1"/>
          </p:cNvSpPr>
          <p:nvPr/>
        </p:nvSpPr>
        <p:spPr>
          <a:xfrm>
            <a:off x="876300" y="50863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WD policy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7428EB8-6826-42E5-92CA-72D24375930F}"/>
              </a:ext>
            </a:extLst>
          </p:cNvPr>
          <p:cNvSpPr>
            <a:spLocks noGrp="1"/>
          </p:cNvSpPr>
          <p:nvPr/>
        </p:nvSpPr>
        <p:spPr>
          <a:xfrm>
            <a:off x="2686050" y="50863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weights_only_no_bias_norm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ECB60B8-9F72-47A2-928E-40784B6A0D38}"/>
              </a:ext>
            </a:extLst>
          </p:cNvPr>
          <p:cNvSpPr>
            <a:spLocks noGrp="1"/>
          </p:cNvSpPr>
          <p:nvPr/>
        </p:nvSpPr>
        <p:spPr>
          <a:xfrm>
            <a:off x="6781800" y="50863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9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same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0843232-57E9-40B2-A80F-9522F9D68D39}"/>
              </a:ext>
            </a:extLst>
          </p:cNvPr>
          <p:cNvSpPr>
            <a:spLocks noGrp="1"/>
          </p:cNvSpPr>
          <p:nvPr/>
        </p:nvSpPr>
        <p:spPr>
          <a:xfrm>
            <a:off x="7981950" y="56197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핵심 문장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F0F8AFB-BFEC-4264-AD19-493B82DB6C4D}"/>
              </a:ext>
            </a:extLst>
          </p:cNvPr>
          <p:cNvSpPr>
            <a:spLocks noGrp="1"/>
          </p:cNvSpPr>
          <p:nvPr/>
        </p:nvSpPr>
        <p:spPr>
          <a:xfrm>
            <a:off x="8858250" y="56007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Same experimental contract except intended optimizer semantics; identical numerical LR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71201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37D6B9-EC71-4C5C-A32D-63B4CEA05D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BD724E4F-7A4C-4240-A9BE-8E8552CAE14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ADAA95BC-BD9A-4086-B5B6-662EE5658F04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ID-TUNED LAYER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7A09FE-7C45-4090-88DB-1565580EFC4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059174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ID-tuned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protocol은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공정성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반박을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막기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layer입니다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4F6B79-D3BD-4210-B78C-C31047556398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96F05B-F420-4E3C-A717-B6E287F04AFD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9593E-3E49-4E21-BFEF-AA408186958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4648200" cy="36576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923C15-B041-4381-BDC3-AF9B4B798CA0}"/>
              </a:ext>
            </a:extLst>
          </p:cNvPr>
          <p:cNvSpPr>
            <a:spLocks noGrp="1"/>
          </p:cNvSpPr>
          <p:nvPr/>
        </p:nvSpPr>
        <p:spPr>
          <a:xfrm>
            <a:off x="1009650" y="19621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Layer 1. matched protocol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01FB4B-92BB-4817-A587-6570A427B055}"/>
              </a:ext>
            </a:extLst>
          </p:cNvPr>
          <p:cNvSpPr>
            <a:spLocks noGrp="1"/>
          </p:cNvSpPr>
          <p:nvPr/>
        </p:nvSpPr>
        <p:spPr>
          <a:xfrm>
            <a:off x="1047750" y="24860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08CF00-7B83-49C9-A8E9-96683D12EB06}"/>
              </a:ext>
            </a:extLst>
          </p:cNvPr>
          <p:cNvSpPr>
            <a:spLocks noGrp="1"/>
          </p:cNvSpPr>
          <p:nvPr/>
        </p:nvSpPr>
        <p:spPr>
          <a:xfrm>
            <a:off x="1219200" y="2419350"/>
            <a:ext cx="3257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first evidence anchor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EB5EAA-A8FE-43A1-9241-FDCF61DB2769}"/>
              </a:ext>
            </a:extLst>
          </p:cNvPr>
          <p:cNvSpPr>
            <a:spLocks noGrp="1"/>
          </p:cNvSpPr>
          <p:nvPr/>
        </p:nvSpPr>
        <p:spPr>
          <a:xfrm>
            <a:off x="1047750" y="29432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441779-98B9-4966-9218-836D945BF17A}"/>
              </a:ext>
            </a:extLst>
          </p:cNvPr>
          <p:cNvSpPr>
            <a:spLocks noGrp="1"/>
          </p:cNvSpPr>
          <p:nvPr/>
        </p:nvSpPr>
        <p:spPr>
          <a:xfrm>
            <a:off x="1219200" y="2876550"/>
            <a:ext cx="3257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total WD fixed at 5.0e-4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43E2C8-DD02-44BF-BD17-534CD9FC73CB}"/>
              </a:ext>
            </a:extLst>
          </p:cNvPr>
          <p:cNvSpPr>
            <a:spLocks noGrp="1"/>
          </p:cNvSpPr>
          <p:nvPr/>
        </p:nvSpPr>
        <p:spPr>
          <a:xfrm>
            <a:off x="1047750" y="34004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E8B655-CA59-4F17-BF66-0B0F70F5BA9F}"/>
              </a:ext>
            </a:extLst>
          </p:cNvPr>
          <p:cNvSpPr>
            <a:spLocks noGrp="1"/>
          </p:cNvSpPr>
          <p:nvPr/>
        </p:nvSpPr>
        <p:spPr>
          <a:xfrm>
            <a:off x="1219200" y="3333750"/>
            <a:ext cx="3352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SGD is canonical WRN baseline, not globally tuned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8EEA62-6761-408B-988C-AD78943DAF6F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36385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9394E7-F0DC-46AC-957C-FA6282AC37A1}"/>
              </a:ext>
            </a:extLst>
          </p:cNvPr>
          <p:cNvSpPr>
            <a:spLocks noGrp="1"/>
          </p:cNvSpPr>
          <p:nvPr/>
        </p:nvSpPr>
        <p:spPr>
          <a:xfrm>
            <a:off x="1047750" y="426720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Purpose: isolate intended optimizer semantics.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306E07-77BD-4CBA-950E-6C4D3E0EF0B3}"/>
              </a:ext>
            </a:extLst>
          </p:cNvPr>
          <p:cNvSpPr>
            <a:spLocks noGrp="1"/>
          </p:cNvSpPr>
          <p:nvPr/>
        </p:nvSpPr>
        <p:spPr>
          <a:xfrm>
            <a:off x="6724650" y="1695450"/>
            <a:ext cx="4648200" cy="36576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4147AB-4681-4B37-A745-B48726E63092}"/>
              </a:ext>
            </a:extLst>
          </p:cNvPr>
          <p:cNvSpPr>
            <a:spLocks noGrp="1"/>
          </p:cNvSpPr>
          <p:nvPr/>
        </p:nvSpPr>
        <p:spPr>
          <a:xfrm>
            <a:off x="7029450" y="19621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Layer 2. ID-tuned protocol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42CC27-08D4-4DE6-8442-DEEFD933A3B7}"/>
              </a:ext>
            </a:extLst>
          </p:cNvPr>
          <p:cNvSpPr>
            <a:spLocks noGrp="1"/>
          </p:cNvSpPr>
          <p:nvPr/>
        </p:nvSpPr>
        <p:spPr>
          <a:xfrm>
            <a:off x="7067550" y="248602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DAC5B-82A1-4A11-80F1-9C796D7A33F7}"/>
              </a:ext>
            </a:extLst>
          </p:cNvPr>
          <p:cNvSpPr>
            <a:spLocks noGrp="1"/>
          </p:cNvSpPr>
          <p:nvPr/>
        </p:nvSpPr>
        <p:spPr>
          <a:xfrm>
            <a:off x="7239000" y="2419350"/>
            <a:ext cx="3333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SGD must be tuned if Adam/AdamW are tuned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D1A202-B032-4A37-A9C4-7F2A881B48FA}"/>
              </a:ext>
            </a:extLst>
          </p:cNvPr>
          <p:cNvSpPr>
            <a:spLocks noGrp="1"/>
          </p:cNvSpPr>
          <p:nvPr/>
        </p:nvSpPr>
        <p:spPr>
          <a:xfrm>
            <a:off x="7067550" y="294322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956EA6-9D23-4239-8870-710B1C6A5967}"/>
              </a:ext>
            </a:extLst>
          </p:cNvPr>
          <p:cNvSpPr>
            <a:spLocks noGrp="1"/>
          </p:cNvSpPr>
          <p:nvPr/>
        </p:nvSpPr>
        <p:spPr>
          <a:xfrm>
            <a:off x="7239000" y="2876550"/>
            <a:ext cx="3390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select by validation accuracy, NLL, or ECE only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ED6DAC-0072-48D5-B13C-578161BD6785}"/>
              </a:ext>
            </a:extLst>
          </p:cNvPr>
          <p:cNvSpPr>
            <a:spLocks noGrp="1"/>
          </p:cNvSpPr>
          <p:nvPr/>
        </p:nvSpPr>
        <p:spPr>
          <a:xfrm>
            <a:off x="7067550" y="3533775"/>
            <a:ext cx="66675" cy="66675"/>
          </a:xfrm>
          <a:prstGeom prst="rect">
            <a:avLst/>
          </a:prstGeom>
          <a:solidFill>
            <a:srgbClr val="B64A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FC496D-9C28-45C0-837A-590626D6870E}"/>
              </a:ext>
            </a:extLst>
          </p:cNvPr>
          <p:cNvSpPr>
            <a:spLocks noGrp="1"/>
          </p:cNvSpPr>
          <p:nvPr/>
        </p:nvSpPr>
        <p:spPr>
          <a:xfrm>
            <a:off x="7239000" y="3467100"/>
            <a:ext cx="3390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never select by OOD AUROC, AUPR, or FPR95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B62979-04F5-481B-B90C-6A7F7F6F99A2}"/>
              </a:ext>
            </a:extLst>
          </p:cNvPr>
          <p:cNvSpPr>
            <a:spLocks noGrp="1"/>
          </p:cNvSpPr>
          <p:nvPr/>
        </p:nvSpPr>
        <p:spPr>
          <a:xfrm>
            <a:off x="7029450" y="4038600"/>
            <a:ext cx="36385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EFE6AD5-E2BD-405F-86AF-53C82EBA8F5D}"/>
              </a:ext>
            </a:extLst>
          </p:cNvPr>
          <p:cNvSpPr>
            <a:spLocks noGrp="1"/>
          </p:cNvSpPr>
          <p:nvPr/>
        </p:nvSpPr>
        <p:spPr>
          <a:xfrm>
            <a:off x="7067550" y="426720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Purpose: answer 'was Adam tuned but SGD not tuned?'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F80A85-5326-4781-8F93-AABB9386A0BB}"/>
              </a:ext>
            </a:extLst>
          </p:cNvPr>
          <p:cNvSpPr>
            <a:spLocks noGrp="1"/>
          </p:cNvSpPr>
          <p:nvPr/>
        </p:nvSpPr>
        <p:spPr>
          <a:xfrm>
            <a:off x="5695950" y="3314700"/>
            <a:ext cx="68580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2A4DEB5-66D9-4F3A-BED0-0AF947FC0005}"/>
              </a:ext>
            </a:extLst>
          </p:cNvPr>
          <p:cNvSpPr>
            <a:spLocks noGrp="1"/>
          </p:cNvSpPr>
          <p:nvPr/>
        </p:nvSpPr>
        <p:spPr>
          <a:xfrm>
            <a:off x="5581650" y="2914650"/>
            <a:ext cx="91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separate</a:t>
            </a:r>
          </a:p>
          <a:p>
            <a:pPr algn="ctr">
              <a:defRPr sz="900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run IDs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D77676-2695-4000-8B4C-3161EDE82B19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000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candidate grid: SGD LR [3e-2, 1e-1, 2e-1]; Adam-family LR [1e-3, 5e-3, 1e-2]; WD ranges predeclared.</a:t>
            </a:r>
          </a:p>
        </p:txBody>
      </p:sp>
    </p:spTree>
    <p:extLst>
      <p:ext uri="{BB962C8B-B14F-4D97-AF65-F5344CB8AC3E}">
        <p14:creationId xmlns:p14="http://schemas.microsoft.com/office/powerpoint/2010/main" val="8012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79F079-7271-4B50-8B7B-A4BF058453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0C77627B-239A-4ADB-9718-1EF6236673E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168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0F271882-90B5-47BE-BF0B-E57C69A53A18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METRIC CONTRACT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CF9352-AFE8-40C5-91B6-2516D06113D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09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Metric 정의의 첫 원칙은 score direction을 통일하는 것입니다.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5AD11B-1CF0-4C78-8636-D88EA7934871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ED58EF-EF9E-44A7-B00E-FD624B2E0BE4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962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Sources: reports/METRIC_DEFINITIONS.md, reports/0514_추가논문분석.md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444E5C-F8E6-4F61-A603-FAD76C94B960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591440-234A-465E-AC29-BB9F8809D2A8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3276600" cy="32385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8BF95E-20BF-4853-A7A4-FA9121677BAB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score convention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3D85EA-C9CF-4DF4-AC5B-6CDA98F58469}"/>
              </a:ext>
            </a:extLst>
          </p:cNvPr>
          <p:cNvSpPr>
            <a:spLocks noGrp="1"/>
          </p:cNvSpPr>
          <p:nvPr/>
        </p:nvSpPr>
        <p:spPr>
          <a:xfrm>
            <a:off x="1028700" y="2324100"/>
            <a:ext cx="22479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higher score = more ID-like</a:t>
            </a:r>
          </a:p>
          <a:p>
            <a:pPr algn="l">
              <a:defRPr sz="17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ID label = 1</a:t>
            </a:r>
          </a:p>
          <a:p>
            <a:pPr algn="l">
              <a:defRPr sz="17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OOD label = 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0FDE6F-A668-48FB-B87F-E04F9584F740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OOD-native scores are converted before AUROC/AUPR/FPR95.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3B87CF-E477-4078-90AC-FDEDAB211E9B}"/>
              </a:ext>
            </a:extLst>
          </p:cNvPr>
          <p:cNvSpPr>
            <a:spLocks noGrp="1"/>
          </p:cNvSpPr>
          <p:nvPr/>
        </p:nvSpPr>
        <p:spPr>
          <a:xfrm>
            <a:off x="4610100" y="1657350"/>
            <a:ext cx="2952750" cy="32385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B12E7-9D80-496D-A61E-8EDFE8359D52}"/>
              </a:ext>
            </a:extLst>
          </p:cNvPr>
          <p:cNvSpPr>
            <a:spLocks noGrp="1"/>
          </p:cNvSpPr>
          <p:nvPr/>
        </p:nvSpPr>
        <p:spPr>
          <a:xfrm>
            <a:off x="4895850" y="19431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ID performance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D47184-8937-45E4-8D00-4F5EB2E56946}"/>
              </a:ext>
            </a:extLst>
          </p:cNvPr>
          <p:cNvSpPr>
            <a:spLocks noGrp="1"/>
          </p:cNvSpPr>
          <p:nvPr/>
        </p:nvSpPr>
        <p:spPr>
          <a:xfrm>
            <a:off x="4914900" y="24860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55136A-754A-48BB-9C47-0B302B325145}"/>
              </a:ext>
            </a:extLst>
          </p:cNvPr>
          <p:cNvSpPr>
            <a:spLocks noGrp="1"/>
          </p:cNvSpPr>
          <p:nvPr/>
        </p:nvSpPr>
        <p:spPr>
          <a:xfrm>
            <a:off x="5086350" y="2419350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D1EA14-45A0-4E7F-96CC-5D576AEA2020}"/>
              </a:ext>
            </a:extLst>
          </p:cNvPr>
          <p:cNvSpPr>
            <a:spLocks noGrp="1"/>
          </p:cNvSpPr>
          <p:nvPr/>
        </p:nvSpPr>
        <p:spPr>
          <a:xfrm>
            <a:off x="4914900" y="296227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BD99E8-7813-45AF-B646-8EFCF1AA6949}"/>
              </a:ext>
            </a:extLst>
          </p:cNvPr>
          <p:cNvSpPr>
            <a:spLocks noGrp="1"/>
          </p:cNvSpPr>
          <p:nvPr/>
        </p:nvSpPr>
        <p:spPr>
          <a:xfrm>
            <a:off x="5086350" y="2895600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nll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C73DF3-3E9D-4142-A433-97B734E7C562}"/>
              </a:ext>
            </a:extLst>
          </p:cNvPr>
          <p:cNvSpPr>
            <a:spLocks noGrp="1"/>
          </p:cNvSpPr>
          <p:nvPr/>
        </p:nvSpPr>
        <p:spPr>
          <a:xfrm>
            <a:off x="4914900" y="343852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F476E6-6341-4EC5-8184-2C254A394A93}"/>
              </a:ext>
            </a:extLst>
          </p:cNvPr>
          <p:cNvSpPr>
            <a:spLocks noGrp="1"/>
          </p:cNvSpPr>
          <p:nvPr/>
        </p:nvSpPr>
        <p:spPr>
          <a:xfrm>
            <a:off x="5086350" y="3371850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ece_15bin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3C2B5D-AE2D-4C75-B486-5484B5A3E1EB}"/>
              </a:ext>
            </a:extLst>
          </p:cNvPr>
          <p:cNvSpPr>
            <a:spLocks noGrp="1"/>
          </p:cNvSpPr>
          <p:nvPr/>
        </p:nvSpPr>
        <p:spPr>
          <a:xfrm>
            <a:off x="4914900" y="3914775"/>
            <a:ext cx="66675" cy="66675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3285B9-F1A1-44B7-B662-0B283D2C397A}"/>
              </a:ext>
            </a:extLst>
          </p:cNvPr>
          <p:cNvSpPr>
            <a:spLocks noGrp="1"/>
          </p:cNvSpPr>
          <p:nvPr/>
        </p:nvSpPr>
        <p:spPr>
          <a:xfrm>
            <a:off x="5086350" y="384810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temperature_scaled_ece_15bin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26445F-40C7-42F7-8B6C-E0C0E6ED7127}"/>
              </a:ext>
            </a:extLst>
          </p:cNvPr>
          <p:cNvSpPr>
            <a:spLocks noGrp="1"/>
          </p:cNvSpPr>
          <p:nvPr/>
        </p:nvSpPr>
        <p:spPr>
          <a:xfrm>
            <a:off x="8153400" y="1657350"/>
            <a:ext cx="2952750" cy="32385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355742A-05FE-4DA6-A923-3069DB1E29B9}"/>
              </a:ext>
            </a:extLst>
          </p:cNvPr>
          <p:cNvSpPr>
            <a:spLocks noGrp="1"/>
          </p:cNvSpPr>
          <p:nvPr/>
        </p:nvSpPr>
        <p:spPr>
          <a:xfrm>
            <a:off x="8439150" y="19431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OOD aggregate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9B4164E-756C-4CE6-B2CC-549477FD810C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211201-1BDD-4554-A94F-70CBD195DFC0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auroc 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E135CE1-865A-4976-91D7-119E03626DE8}"/>
              </a:ext>
            </a:extLst>
          </p:cNvPr>
          <p:cNvSpPr>
            <a:spLocks noGrp="1"/>
          </p:cNvSpPr>
          <p:nvPr/>
        </p:nvSpPr>
        <p:spPr>
          <a:xfrm>
            <a:off x="8458200" y="296227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BE86756-DC39-4C84-80B7-FD8AFE558407}"/>
              </a:ext>
            </a:extLst>
          </p:cNvPr>
          <p:cNvSpPr>
            <a:spLocks noGrp="1"/>
          </p:cNvSpPr>
          <p:nvPr/>
        </p:nvSpPr>
        <p:spPr>
          <a:xfrm>
            <a:off x="8629650" y="2895600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fpr95 ↓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836CBD-928C-435F-BF0E-258871713D19}"/>
              </a:ext>
            </a:extLst>
          </p:cNvPr>
          <p:cNvSpPr>
            <a:spLocks noGrp="1"/>
          </p:cNvSpPr>
          <p:nvPr/>
        </p:nvSpPr>
        <p:spPr>
          <a:xfrm>
            <a:off x="8458200" y="3438525"/>
            <a:ext cx="66675" cy="66675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07B56EA-3069-4900-83CE-8259CB664FCD}"/>
              </a:ext>
            </a:extLst>
          </p:cNvPr>
          <p:cNvSpPr>
            <a:spLocks noGrp="1"/>
          </p:cNvSpPr>
          <p:nvPr/>
        </p:nvSpPr>
        <p:spPr>
          <a:xfrm>
            <a:off x="8629650" y="3371850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aupr_in ↑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5004EBE-6B9C-4380-860B-1859D380EB5E}"/>
              </a:ext>
            </a:extLst>
          </p:cNvPr>
          <p:cNvSpPr>
            <a:spLocks noGrp="1"/>
          </p:cNvSpPr>
          <p:nvPr/>
        </p:nvSpPr>
        <p:spPr>
          <a:xfrm>
            <a:off x="8458200" y="3962400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Reporting metrics only. Do not tune detector hyperparameters with OOD test metrics.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941895B-0EBD-4E1F-A931-80BBBD051222}"/>
              </a:ext>
            </a:extLst>
          </p:cNvPr>
          <p:cNvSpPr>
            <a:spLocks noGrp="1"/>
          </p:cNvSpPr>
          <p:nvPr/>
        </p:nvSpPr>
        <p:spPr>
          <a:xfrm>
            <a:off x="1009650" y="556260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 장은 나중에 숫자를 넣기 위한 계약입니다. 지금은 full-scale metric을 주장하지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9802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F824BB4E-A275-491C-AA82-93CFB72FE0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A9B57A39-69DD-4315-981E-AC41F1AEDF04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168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DBCD9048-3C2A-465B-90CD-4C42D382E5B0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DETECTOR FAMILIES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7E63B-3E6B-463C-BC49-7A8DE74A00E3}"/>
              </a:ext>
            </a:extLst>
          </p:cNvPr>
          <p:cNvSpPr>
            <a:spLocks noGrp="1"/>
          </p:cNvSpPr>
          <p:nvPr/>
        </p:nvSpPr>
        <p:spPr>
          <a:xfrm>
            <a:off x="533399" y="685800"/>
            <a:ext cx="9810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Detector는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logit-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only에서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geometry-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heavy까지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읽는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대상이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다릅니다</a:t>
            </a:r>
            <a:r>
              <a:rPr sz="2325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03A4DA-2925-4DD4-9F0C-9DBF191CF1FA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68293F-C1A0-4710-B29B-AE7BF7ABA03D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962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Sources: reports/METRIC_DEFINITIONS.md, 소스/0513_metric_OOD_survey.md, reports/0514_추가논문분석.md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678C8B-5783-45B5-9A92-8AC59A2E7454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90C6E5-D6C2-4709-AB3D-9228633347DF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1943100" cy="314325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67D21D-8D54-490A-A55F-114D9B8D53C0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1943100" cy="76200"/>
          </a:xfrm>
          <a:prstGeom prst="rect">
            <a:avLst/>
          </a:prstGeom>
          <a:solidFill>
            <a:srgbClr val="2C67B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4CD581-5B2B-4737-9A40-8F456D28EB80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158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Logit-only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722309-458F-4DDF-AF56-7219B4DAB636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msp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maxlogit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energy_id_score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neg_entropy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D14F53-007F-47C9-9B72-5A9B84FECB3C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1485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ABFE7E-1990-4C1E-A780-AFCC92342FFF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output confidence / logit scale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52B876-BC1E-4CCC-9D5B-C3FD2A80F268}"/>
              </a:ext>
            </a:extLst>
          </p:cNvPr>
          <p:cNvSpPr>
            <a:spLocks noGrp="1"/>
          </p:cNvSpPr>
          <p:nvPr/>
        </p:nvSpPr>
        <p:spPr>
          <a:xfrm>
            <a:off x="2838450" y="1905000"/>
            <a:ext cx="1943100" cy="314325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C8CFC2-3E67-45C5-88B4-50D3D4A28DD1}"/>
              </a:ext>
            </a:extLst>
          </p:cNvPr>
          <p:cNvSpPr>
            <a:spLocks noGrp="1"/>
          </p:cNvSpPr>
          <p:nvPr/>
        </p:nvSpPr>
        <p:spPr>
          <a:xfrm>
            <a:off x="2838450" y="1905000"/>
            <a:ext cx="1943100" cy="76200"/>
          </a:xfrm>
          <a:prstGeom prst="rect">
            <a:avLst/>
          </a:prstGeom>
          <a:solidFill>
            <a:srgbClr val="C77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D4ABBA-A848-4477-B8F5-0E78EF54DE68}"/>
              </a:ext>
            </a:extLst>
          </p:cNvPr>
          <p:cNvSpPr>
            <a:spLocks noGrp="1"/>
          </p:cNvSpPr>
          <p:nvPr/>
        </p:nvSpPr>
        <p:spPr>
          <a:xfrm>
            <a:off x="3009900" y="2171700"/>
            <a:ext cx="158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77724"/>
                </a:solidFill>
                <a:latin typeface="Malgun Gothic"/>
                <a:ea typeface="Malgun Gothic"/>
                <a:cs typeface="Malgun Gothic"/>
              </a:rPr>
              <a:t>Hybrid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76985A-6A3F-481D-B360-C97B27BBB2D8}"/>
              </a:ext>
            </a:extLst>
          </p:cNvPr>
          <p:cNvSpPr>
            <a:spLocks noGrp="1"/>
          </p:cNvSpPr>
          <p:nvPr/>
        </p:nvSpPr>
        <p:spPr>
          <a:xfrm>
            <a:off x="3009900" y="268605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vim_id_score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D643D9-3643-4446-8C62-B1C9A5885056}"/>
              </a:ext>
            </a:extLst>
          </p:cNvPr>
          <p:cNvSpPr>
            <a:spLocks noGrp="1"/>
          </p:cNvSpPr>
          <p:nvPr/>
        </p:nvSpPr>
        <p:spPr>
          <a:xfrm>
            <a:off x="3067050" y="3752850"/>
            <a:ext cx="1485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E8F86B-62BF-463E-A5DB-6C0D31C75F17}"/>
              </a:ext>
            </a:extLst>
          </p:cNvPr>
          <p:cNvSpPr>
            <a:spLocks noGrp="1"/>
          </p:cNvSpPr>
          <p:nvPr/>
        </p:nvSpPr>
        <p:spPr>
          <a:xfrm>
            <a:off x="3009900" y="400050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feature residual + logit bridge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2A004F-35D6-4A29-BBD9-4D48D4B5572A}"/>
              </a:ext>
            </a:extLst>
          </p:cNvPr>
          <p:cNvSpPr>
            <a:spLocks noGrp="1"/>
          </p:cNvSpPr>
          <p:nvPr/>
        </p:nvSpPr>
        <p:spPr>
          <a:xfrm>
            <a:off x="5086350" y="1905000"/>
            <a:ext cx="1943100" cy="314325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69AC8C-211B-4911-BD2F-C2ECEBDAB3F0}"/>
              </a:ext>
            </a:extLst>
          </p:cNvPr>
          <p:cNvSpPr>
            <a:spLocks noGrp="1"/>
          </p:cNvSpPr>
          <p:nvPr/>
        </p:nvSpPr>
        <p:spPr>
          <a:xfrm>
            <a:off x="5086350" y="1905000"/>
            <a:ext cx="1943100" cy="76200"/>
          </a:xfrm>
          <a:prstGeom prst="rect">
            <a:avLst/>
          </a:prstGeom>
          <a:solidFill>
            <a:srgbClr val="168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409188-713A-43B3-9161-F8753A56460B}"/>
              </a:ext>
            </a:extLst>
          </p:cNvPr>
          <p:cNvSpPr>
            <a:spLocks noGrp="1"/>
          </p:cNvSpPr>
          <p:nvPr/>
        </p:nvSpPr>
        <p:spPr>
          <a:xfrm>
            <a:off x="5257800" y="2171700"/>
            <a:ext cx="158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Distance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D6BDFD-9D6F-4D69-9B3A-9D00FA6CDEA8}"/>
              </a:ext>
            </a:extLst>
          </p:cNvPr>
          <p:cNvSpPr>
            <a:spLocks noGrp="1"/>
          </p:cNvSpPr>
          <p:nvPr/>
        </p:nvSpPr>
        <p:spPr>
          <a:xfrm>
            <a:off x="5257800" y="268605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mahalanobis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mahalanobis_l2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knn / knn_l2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62D791-0BCE-467E-A461-17CF1EEADA24}"/>
              </a:ext>
            </a:extLst>
          </p:cNvPr>
          <p:cNvSpPr>
            <a:spLocks noGrp="1"/>
          </p:cNvSpPr>
          <p:nvPr/>
        </p:nvSpPr>
        <p:spPr>
          <a:xfrm>
            <a:off x="5314950" y="3752850"/>
            <a:ext cx="1485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EDD11C-BF34-4F5F-91C9-4F6CEF9D339E}"/>
              </a:ext>
            </a:extLst>
          </p:cNvPr>
          <p:cNvSpPr>
            <a:spLocks noGrp="1"/>
          </p:cNvSpPr>
          <p:nvPr/>
        </p:nvSpPr>
        <p:spPr>
          <a:xfrm>
            <a:off x="5257800" y="400050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class distance, norm control, local geometry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6EC4A86-C8EE-4E78-B048-9CFA9AA2CA10}"/>
              </a:ext>
            </a:extLst>
          </p:cNvPr>
          <p:cNvSpPr>
            <a:spLocks noGrp="1"/>
          </p:cNvSpPr>
          <p:nvPr/>
        </p:nvSpPr>
        <p:spPr>
          <a:xfrm>
            <a:off x="7334250" y="1905000"/>
            <a:ext cx="1943100" cy="314325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AF7C5D-EA9F-4AFE-9EEA-029B7DE84ECE}"/>
              </a:ext>
            </a:extLst>
          </p:cNvPr>
          <p:cNvSpPr>
            <a:spLocks noGrp="1"/>
          </p:cNvSpPr>
          <p:nvPr/>
        </p:nvSpPr>
        <p:spPr>
          <a:xfrm>
            <a:off x="7334250" y="1905000"/>
            <a:ext cx="1943100" cy="76200"/>
          </a:xfrm>
          <a:prstGeom prst="rect">
            <a:avLst/>
          </a:prstGeom>
          <a:solidFill>
            <a:srgbClr val="7C5A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A0F893-2E30-4BB6-AB02-EA5D3CE4A229}"/>
              </a:ext>
            </a:extLst>
          </p:cNvPr>
          <p:cNvSpPr>
            <a:spLocks noGrp="1"/>
          </p:cNvSpPr>
          <p:nvPr/>
        </p:nvSpPr>
        <p:spPr>
          <a:xfrm>
            <a:off x="7505700" y="2171700"/>
            <a:ext cx="158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C5A9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C5A9A"/>
                </a:solidFill>
                <a:latin typeface="Malgun Gothic"/>
                <a:ea typeface="Malgun Gothic"/>
                <a:cs typeface="Malgun Gothic"/>
              </a:rPr>
              <a:t>Density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78E0034-E36F-411A-B944-7CF29B11847E}"/>
              </a:ext>
            </a:extLst>
          </p:cNvPr>
          <p:cNvSpPr>
            <a:spLocks noGrp="1"/>
          </p:cNvSpPr>
          <p:nvPr/>
        </p:nvSpPr>
        <p:spPr>
          <a:xfrm>
            <a:off x="7505700" y="268605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gmm_ddu_tied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gmm_ddu_diag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gmm_ddu_shrinkage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F6B426-A18F-413A-BC2E-028F8698E45A}"/>
              </a:ext>
            </a:extLst>
          </p:cNvPr>
          <p:cNvSpPr>
            <a:spLocks noGrp="1"/>
          </p:cNvSpPr>
          <p:nvPr/>
        </p:nvSpPr>
        <p:spPr>
          <a:xfrm>
            <a:off x="7562850" y="3752850"/>
            <a:ext cx="1485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63A9CCD-FA7C-42D8-914E-D23F802BEA44}"/>
              </a:ext>
            </a:extLst>
          </p:cNvPr>
          <p:cNvSpPr>
            <a:spLocks noGrp="1"/>
          </p:cNvSpPr>
          <p:nvPr/>
        </p:nvSpPr>
        <p:spPr>
          <a:xfrm>
            <a:off x="7505700" y="400050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covariance and density assumptions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4A3F82-BF93-45D5-889B-DF0F69BE90AC}"/>
              </a:ext>
            </a:extLst>
          </p:cNvPr>
          <p:cNvSpPr>
            <a:spLocks noGrp="1"/>
          </p:cNvSpPr>
          <p:nvPr/>
        </p:nvSpPr>
        <p:spPr>
          <a:xfrm>
            <a:off x="9582150" y="1905000"/>
            <a:ext cx="1943100" cy="314325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74FFD61-4226-4B31-95FB-90B56D292E92}"/>
              </a:ext>
            </a:extLst>
          </p:cNvPr>
          <p:cNvSpPr>
            <a:spLocks noGrp="1"/>
          </p:cNvSpPr>
          <p:nvPr/>
        </p:nvSpPr>
        <p:spPr>
          <a:xfrm>
            <a:off x="9582150" y="1905000"/>
            <a:ext cx="1943100" cy="76200"/>
          </a:xfrm>
          <a:prstGeom prst="rect">
            <a:avLst/>
          </a:prstGeom>
          <a:solidFill>
            <a:srgbClr val="B64A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0E1CAE-5F81-4861-B4F8-1A94EF06F495}"/>
              </a:ext>
            </a:extLst>
          </p:cNvPr>
          <p:cNvSpPr>
            <a:spLocks noGrp="1"/>
          </p:cNvSpPr>
          <p:nvPr/>
        </p:nvSpPr>
        <p:spPr>
          <a:xfrm>
            <a:off x="9753600" y="2171700"/>
            <a:ext cx="158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NC / prototype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9EDB47E-DF07-443B-B976-E1490680558D}"/>
              </a:ext>
            </a:extLst>
          </p:cNvPr>
          <p:cNvSpPr>
            <a:spLocks noGrp="1"/>
          </p:cNvSpPr>
          <p:nvPr/>
        </p:nvSpPr>
        <p:spPr>
          <a:xfrm>
            <a:off x="9753600" y="268605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ncc_distance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nc_prototype_cosine</a:t>
            </a:r>
          </a:p>
          <a:p>
            <a:pPr algn="ctr">
              <a:def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nc_classifier_alignment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889336-703B-4C5E-BEA3-106165719CEF}"/>
              </a:ext>
            </a:extLst>
          </p:cNvPr>
          <p:cNvSpPr>
            <a:spLocks noGrp="1"/>
          </p:cNvSpPr>
          <p:nvPr/>
        </p:nvSpPr>
        <p:spPr>
          <a:xfrm>
            <a:off x="9810750" y="3752850"/>
            <a:ext cx="1485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0955004-41EB-461B-B147-2871DFFB4CD3}"/>
              </a:ext>
            </a:extLst>
          </p:cNvPr>
          <p:cNvSpPr>
            <a:spLocks noGrp="1"/>
          </p:cNvSpPr>
          <p:nvPr/>
        </p:nvSpPr>
        <p:spPr>
          <a:xfrm>
            <a:off x="9753600" y="400050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collapse-like prototype structure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C854F68-254C-4985-AD18-A61226CA9F61}"/>
              </a:ext>
            </a:extLst>
          </p:cNvPr>
          <p:cNvSpPr>
            <a:spLocks noGrp="1"/>
          </p:cNvSpPr>
          <p:nvPr/>
        </p:nvSpPr>
        <p:spPr>
          <a:xfrm>
            <a:off x="1047750" y="5562600"/>
            <a:ext cx="981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읽는 대상이 다르기 때문에 detector recovery는 반박이 아니라 mechanism signal입니다.</a:t>
            </a:r>
          </a:p>
        </p:txBody>
      </p:sp>
    </p:spTree>
    <p:extLst>
      <p:ext uri="{BB962C8B-B14F-4D97-AF65-F5344CB8AC3E}">
        <p14:creationId xmlns:p14="http://schemas.microsoft.com/office/powerpoint/2010/main" val="104615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06C5BC7-3BB2-4D5E-82DB-36B43D7B4B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EFAD20CB-513C-4848-BF03-795C21599EF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168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55A4B809-FCE6-47E2-9517-0788CA15C874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806A"/>
                </a:solidFill>
                <a:latin typeface="Malgun Gothic"/>
                <a:ea typeface="Malgun Gothic"/>
                <a:cs typeface="Malgun Gothic"/>
              </a:rPr>
              <a:t>INTERPRETATION MAP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9C13F6-6514-4203-A15E-E589A0AFDD5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09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Recovery/failure pattern이 어떤 geometry channel을 가리키는지 미리 정합니다.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8FF1AA-EE2F-463B-85B2-39514007F66B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14035A-E598-4FF2-8654-2E349258646A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962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Sources: reports/0514_추가논문분석.md, reports/METRIC_DEFINITIONS.md, Mahalanobis++/ViM/NECO source cards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5B2655-B4AA-426D-9905-218685075400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4E7D16-1A39-43CF-ACDE-8BE6A4C67E0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001250" cy="33147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A44A1E-1A23-4E94-866F-EBE148497EF9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관찰될 패턴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C818DD-CF54-414B-A0D7-7F0846DDBB36}"/>
              </a:ext>
            </a:extLst>
          </p:cNvPr>
          <p:cNvSpPr>
            <a:spLocks noGrp="1"/>
          </p:cNvSpPr>
          <p:nvPr/>
        </p:nvSpPr>
        <p:spPr>
          <a:xfrm>
            <a:off x="3638550" y="1838325"/>
            <a:ext cx="390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가능한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E357F2-0EF5-4585-A7BA-13DC4329A39F}"/>
              </a:ext>
            </a:extLst>
          </p:cNvPr>
          <p:cNvSpPr>
            <a:spLocks noGrp="1"/>
          </p:cNvSpPr>
          <p:nvPr/>
        </p:nvSpPr>
        <p:spPr>
          <a:xfrm>
            <a:off x="3543300" y="1752600"/>
            <a:ext cx="9525" cy="331470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B707D1-3F4C-443F-95FE-04E38F286DD2}"/>
              </a:ext>
            </a:extLst>
          </p:cNvPr>
          <p:cNvSpPr>
            <a:spLocks noGrp="1"/>
          </p:cNvSpPr>
          <p:nvPr/>
        </p:nvSpPr>
        <p:spPr>
          <a:xfrm>
            <a:off x="7734300" y="18383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C67B1"/>
                </a:solidFill>
                <a:latin typeface="Malgun Gothic"/>
                <a:ea typeface="Malgun Gothic"/>
                <a:cs typeface="Malgun Gothic"/>
              </a:rPr>
              <a:t>다음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249735-7B0F-4D05-9C85-8F8576FBB375}"/>
              </a:ext>
            </a:extLst>
          </p:cNvPr>
          <p:cNvSpPr>
            <a:spLocks noGrp="1"/>
          </p:cNvSpPr>
          <p:nvPr/>
        </p:nvSpPr>
        <p:spPr>
          <a:xfrm>
            <a:off x="7639050" y="1752600"/>
            <a:ext cx="9525" cy="3314700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2F90BA-AB4E-4A95-813B-AC438D962901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00125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830D76-649F-486C-ACF9-272B1477B997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Mahalanobis/DDU만 악화, kNN 안정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B5C4D1-4D09-45D9-8268-3F86A4A337F4}"/>
              </a:ext>
            </a:extLst>
          </p:cNvPr>
          <p:cNvSpPr>
            <a:spLocks noGrp="1"/>
          </p:cNvSpPr>
          <p:nvPr/>
        </p:nvSpPr>
        <p:spPr>
          <a:xfrm>
            <a:off x="3638550" y="238125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covariance estimation 또는 inverse covariance 문제가 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BF05D7-90A9-485A-A6FA-4E4B16FE15EF}"/>
              </a:ext>
            </a:extLst>
          </p:cNvPr>
          <p:cNvSpPr>
            <a:spLocks noGrp="1"/>
          </p:cNvSpPr>
          <p:nvPr/>
        </p:nvSpPr>
        <p:spPr>
          <a:xfrm>
            <a:off x="7734300" y="23812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tied/diag/shrinkage GMM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21EA01-6BB2-4CE4-9B22-C7D976BB566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E13A36-3AD9-4943-9ACD-3C776698CA16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mahalanobis_l2가 회복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46222E-7964-4FB7-8CC6-5635135DF565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feature norm 또는 covariance scale channel이 주요 원인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35BDA7-546E-4A88-8EB4-DD803B5DDFEC}"/>
              </a:ext>
            </a:extLst>
          </p:cNvPr>
          <p:cNvSpPr>
            <a:spLocks noGrp="1"/>
          </p:cNvSpPr>
          <p:nvPr/>
        </p:nvSpPr>
        <p:spPr>
          <a:xfrm>
            <a:off x="7734300" y="29337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feature_norm_stats, eigenspectrum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3B6FA0-A621-415D-A48E-0EF8D41DAB8D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3EFD77-DC1E-4776-9C3F-6E25DB3130A7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mahalanobis_l2와 knn_l2도 악화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922597-5F69-41E9-8730-D5669B67914A}"/>
              </a:ext>
            </a:extLst>
          </p:cNvPr>
          <p:cNvSpPr>
            <a:spLocks noGrp="1"/>
          </p:cNvSpPr>
          <p:nvPr/>
        </p:nvSpPr>
        <p:spPr>
          <a:xfrm>
            <a:off x="3638550" y="348615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angular/local class geometry 손상 가능성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17AA190-336E-4D95-9BC9-192212C69465}"/>
              </a:ext>
            </a:extLst>
          </p:cNvPr>
          <p:cNvSpPr>
            <a:spLocks noGrp="1"/>
          </p:cNvSpPr>
          <p:nvPr/>
        </p:nvSpPr>
        <p:spPr>
          <a:xfrm>
            <a:off x="7734300" y="34861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nc2_mean_cos, nc3_self_duality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04CAB28-9793-4E02-8B3D-4EB4B3A3552C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2F63673-D478-4C8F-843D-9934F1AB0480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ViM은 Energy처럼 안정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727DAC-8B2F-48C9-853D-B3D1307FE386}"/>
              </a:ext>
            </a:extLst>
          </p:cNvPr>
          <p:cNvSpPr>
            <a:spLocks noGrp="1"/>
          </p:cNvSpPr>
          <p:nvPr/>
        </p:nvSpPr>
        <p:spPr>
          <a:xfrm>
            <a:off x="3638550" y="403860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logit term이 feature residual 손상을 mask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487F9F-A396-48DB-ABA4-934AA0311D29}"/>
              </a:ext>
            </a:extLst>
          </p:cNvPr>
          <p:cNvSpPr>
            <a:spLocks noGrp="1"/>
          </p:cNvSpPr>
          <p:nvPr/>
        </p:nvSpPr>
        <p:spPr>
          <a:xfrm>
            <a:off x="7734300" y="40386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vim_native vs energy 분리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A99CD6-09C0-4CD8-BA30-FC4DE4B0A0B7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001250" cy="9525"/>
          </a:xfrm>
          <a:prstGeom prst="rect">
            <a:avLst/>
          </a:prstGeom>
          <a:solidFill>
            <a:srgbClr val="E6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6E74226-532F-4DCC-AE8A-2BBDE814EFDF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NC/prototype score가 같이 이동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14AF546-2257-4C3A-939A-0A656F901D3A}"/>
              </a:ext>
            </a:extLst>
          </p:cNvPr>
          <p:cNvSpPr>
            <a:spLocks noGrp="1"/>
          </p:cNvSpPr>
          <p:nvPr/>
        </p:nvSpPr>
        <p:spPr>
          <a:xfrm>
            <a:off x="3638550" y="459105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accuracy와 별도로 detector-relevant NC geometry 변화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E305B1-C3FD-4B79-9E3F-4A70C7C78CB4}"/>
              </a:ext>
            </a:extLst>
          </p:cNvPr>
          <p:cNvSpPr>
            <a:spLocks noGrp="1"/>
          </p:cNvSpPr>
          <p:nvPr/>
        </p:nvSpPr>
        <p:spPr>
          <a:xfrm>
            <a:off x="7734300" y="45910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NC metrics panel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8C7219-BEB9-450E-90DB-E37920025DC1}"/>
              </a:ext>
            </a:extLst>
          </p:cNvPr>
          <p:cNvSpPr>
            <a:spLocks noGrp="1"/>
          </p:cNvSpPr>
          <p:nvPr/>
        </p:nvSpPr>
        <p:spPr>
          <a:xfrm>
            <a:off x="1123950" y="58102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중요: 외부 문헌은 detector-family와 geometry relevance를 지지하지만, optimizer -&gt; detector behavior는 우리 controlled results가 만들어야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056858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F2F862-211C-472D-9EAA-A65262AB73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3B7D756B-9D88-44AB-B0B6-A1D912E98C9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B64A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FF37D008-F5E0-4447-8FFB-AE454BD754FD}"/>
              </a:ext>
            </a:extLst>
          </p:cNvPr>
          <p:cNvSpPr>
            <a:spLocks noGrp="1"/>
          </p:cNvSpPr>
          <p:nvPr/>
        </p:nvSpPr>
        <p:spPr>
          <a:xfrm>
            <a:off x="723900" y="3143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DECISIONS TO CONFIRM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63F055-8D67-48AC-9BF4-97B91248D69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09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다음 실험 확장은 세 가지 결정을 확인한 뒤 진행합니다.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91A91A-015A-4D03-9553-0274D7B4BB48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9E4ADE-2833-4CBD-B93B-F6A56C13F364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962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Sources: AI_CONTEXT.md, tasks/wrn350_sgd_nesterov_seed0_training_plan.md, reports/METRIC_DEFINITIONS.md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CD538A-AB68-4785-B5C6-1C9D720F77F8}"/>
              </a:ext>
            </a:extLst>
          </p:cNvPr>
          <p:cNvSpPr>
            <a:spLocks noGrp="1"/>
          </p:cNvSpPr>
          <p:nvPr/>
        </p:nvSpPr>
        <p:spPr>
          <a:xfrm>
            <a:off x="11068050" y="643890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4B727E-1FAD-4CD5-BE03-4D6F55A0B04F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10382250" cy="8763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65B157-B81B-4E7D-92A4-008F244142C1}"/>
              </a:ext>
            </a:extLst>
          </p:cNvPr>
          <p:cNvSpPr>
            <a:spLocks noGrp="1"/>
          </p:cNvSpPr>
          <p:nvPr/>
        </p:nvSpPr>
        <p:spPr>
          <a:xfrm>
            <a:off x="1143000" y="1943100"/>
            <a:ext cx="438150" cy="438150"/>
          </a:xfrm>
          <a:prstGeom prst="rect">
            <a:avLst/>
          </a:prstGeom>
          <a:solidFill>
            <a:srgbClr val="F2E1DC"/>
          </a:solidFill>
          <a:ln w="9525">
            <a:solidFill>
              <a:srgbClr val="B64A3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52DD57-D685-4F78-BCAE-017AA6EFA2BD}"/>
              </a:ext>
            </a:extLst>
          </p:cNvPr>
          <p:cNvSpPr>
            <a:spLocks noGrp="1"/>
          </p:cNvSpPr>
          <p:nvPr/>
        </p:nvSpPr>
        <p:spPr>
          <a:xfrm>
            <a:off x="1809750" y="1905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Matched protocol을 먼저 paper-scale anchor로 밀 것인가?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891839-767C-4272-A8C1-1CED3EC54C95}"/>
              </a:ext>
            </a:extLst>
          </p:cNvPr>
          <p:cNvSpPr>
            <a:spLocks noGrp="1"/>
          </p:cNvSpPr>
          <p:nvPr/>
        </p:nvSpPr>
        <p:spPr>
          <a:xfrm>
            <a:off x="1809750" y="2228850"/>
            <a:ext cx="790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06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SGD WRN350 anchor -&gt; Adam/AdamW -&gt; controlled r axis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345426-483A-4534-94E0-330989909430}"/>
              </a:ext>
            </a:extLst>
          </p:cNvPr>
          <p:cNvSpPr>
            <a:spLocks noGrp="1"/>
          </p:cNvSpPr>
          <p:nvPr/>
        </p:nvSpPr>
        <p:spPr>
          <a:xfrm>
            <a:off x="876300" y="2933700"/>
            <a:ext cx="10382250" cy="8763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03EC78-AD2A-4224-BC97-700D2B2928E1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38150" cy="438150"/>
          </a:xfrm>
          <a:prstGeom prst="rect">
            <a:avLst/>
          </a:prstGeom>
          <a:solidFill>
            <a:srgbClr val="F2E1DC"/>
          </a:solidFill>
          <a:ln w="9525">
            <a:solidFill>
              <a:srgbClr val="B64A3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B816B-3861-422F-A18E-5FB7F32BC1C0}"/>
              </a:ext>
            </a:extLst>
          </p:cNvPr>
          <p:cNvSpPr>
            <a:spLocks noGrp="1"/>
          </p:cNvSpPr>
          <p:nvPr/>
        </p:nvSpPr>
        <p:spPr>
          <a:xfrm>
            <a:off x="1809750" y="310515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ID-tuned protocol은 appendix/second layer로 둘 것인가?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8D87A9-2C46-4AFE-9027-5832D7BB19D8}"/>
              </a:ext>
            </a:extLst>
          </p:cNvPr>
          <p:cNvSpPr>
            <a:spLocks noGrp="1"/>
          </p:cNvSpPr>
          <p:nvPr/>
        </p:nvSpPr>
        <p:spPr>
          <a:xfrm>
            <a:off x="1809750" y="3429000"/>
            <a:ext cx="790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06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validation accuracy/NLL/ECE만 사용, SGD도 같은 search layer 포함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ABB4F1-73B8-497E-87B3-E0C4EA1AA5D0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10382250" cy="876300"/>
          </a:xfrm>
          <a:prstGeom prst="rect">
            <a:avLst/>
          </a:prstGeom>
          <a:solidFill>
            <a:srgbClr val="FBFAF6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461D0E-383C-42A4-BA36-F16CA2347B56}"/>
              </a:ext>
            </a:extLst>
          </p:cNvPr>
          <p:cNvSpPr>
            <a:spLocks noGrp="1"/>
          </p:cNvSpPr>
          <p:nvPr/>
        </p:nvSpPr>
        <p:spPr>
          <a:xfrm>
            <a:off x="1143000" y="4343400"/>
            <a:ext cx="438150" cy="438150"/>
          </a:xfrm>
          <a:prstGeom prst="rect">
            <a:avLst/>
          </a:prstGeom>
          <a:solidFill>
            <a:srgbClr val="F2E1DC"/>
          </a:solidFill>
          <a:ln w="9525">
            <a:solidFill>
              <a:srgbClr val="B64A3B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BB02EC-81DB-42DD-ABF9-5C4317A46250}"/>
              </a:ext>
            </a:extLst>
          </p:cNvPr>
          <p:cNvSpPr>
            <a:spLocks noGrp="1"/>
          </p:cNvSpPr>
          <p:nvPr/>
        </p:nvSpPr>
        <p:spPr>
          <a:xfrm>
            <a:off x="1809750" y="43053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Metric table은 Tier 0 detector set으로 확정할 것인가?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11755F-B376-4F9E-AA01-C517218DF10A}"/>
              </a:ext>
            </a:extLst>
          </p:cNvPr>
          <p:cNvSpPr>
            <a:spLocks noGrp="1"/>
          </p:cNvSpPr>
          <p:nvPr/>
        </p:nvSpPr>
        <p:spPr>
          <a:xfrm>
            <a:off x="1809750" y="4629150"/>
            <a:ext cx="790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defRPr>
            </a:pPr>
            <a:r>
              <a:rPr sz="1065" b="0">
                <a:solidFill>
                  <a:srgbClr val="4C5967"/>
                </a:solidFill>
                <a:latin typeface="Malgun Gothic"/>
                <a:ea typeface="Malgun Gothic"/>
                <a:cs typeface="Malgun Gothic"/>
              </a:rPr>
              <a:t>logit -&gt; hybrid -&gt; distance -&gt; density -&gt; NC/prototype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5CA3BE-6A55-465F-8BDF-11D57809FC36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10382250" cy="419100"/>
          </a:xfrm>
          <a:prstGeom prst="rect">
            <a:avLst/>
          </a:prstGeom>
          <a:solidFill>
            <a:srgbClr val="F2E1DC"/>
          </a:solidFill>
          <a:ln w="9525">
            <a:solidFill>
              <a:srgbClr val="B64A3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C4A2B1C-D2CA-4487-A8BC-77A52B5856DD}"/>
              </a:ext>
            </a:extLst>
          </p:cNvPr>
          <p:cNvSpPr>
            <a:spLocks noGrp="1"/>
          </p:cNvSpPr>
          <p:nvPr/>
        </p:nvSpPr>
        <p:spPr>
          <a:xfrm>
            <a:off x="1123950" y="5638800"/>
            <a:ext cx="979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B64A3B"/>
                </a:solidFill>
                <a:latin typeface="Malgun Gothic"/>
                <a:ea typeface="Malgun Gothic"/>
                <a:cs typeface="Malgun Gothic"/>
              </a:rPr>
              <a:t>Boundary to preserve: no WRN350 metric is confirmed until train -&gt; cache -&gt; post-hoc eval -&gt; run-dir check -&gt; manifest are complete.</a:t>
            </a:r>
          </a:p>
        </p:txBody>
      </p:sp>
    </p:spTree>
    <p:extLst>
      <p:ext uri="{BB962C8B-B14F-4D97-AF65-F5344CB8AC3E}">
        <p14:creationId xmlns:p14="http://schemas.microsoft.com/office/powerpoint/2010/main" val="20519884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1187</Words>
  <Application>Microsoft Office PowerPoint</Application>
  <DocSecurity>0</DocSecurity>
  <PresentationFormat>와이드스크린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</cp:lastModifiedBy>
  <cp:revision>2</cp:revision>
  <dcterms:created xsi:type="dcterms:W3CDTF">2026-05-20T05:35:04Z</dcterms:created>
  <dcterms:modified xsi:type="dcterms:W3CDTF">2026-05-20T07:14:48Z</dcterms:modified>
</cp:coreProperties>
</file>