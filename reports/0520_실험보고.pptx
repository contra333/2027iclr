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77088B8C-DE31-42C7-A1F5-F8DE1C6823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F6F7F9"/>
            </a:solidFill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1327F4B-3ADA-4161-BF6D-1A7A5A1B69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213D"/>
          </a:solidFill>
          <a:ln w="0">
            <a:solidFill>
              <a:srgbClr val="F6F7F9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F3AB5B-6DB5-482B-A986-92545F2EBCE3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666750" cy="400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r">
              <a:defRPr sz="21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4CAE10-0742-4ECF-B419-B58D67CFAC9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85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RESEARCH QUESTION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E3A29A-E089-40C0-B61C-EF2B9297E405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8763000" cy="11239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Optimizer is not just a training tool;</a:t>
            </a:r>
          </a:p>
          <a:p>
            <a:pPr algn="l"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it is a representation-geometry intervention.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95BF9F-F964-48E6-961B-FE5243435E2E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8705850" cy="5905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5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우리는</a:t>
            </a:r>
            <a:r>
              <a:rPr dirty="0"/>
              <a:t> </a:t>
            </a:r>
            <a:r>
              <a:rPr dirty="0" err="1"/>
              <a:t>optimizer를</a:t>
            </a:r>
            <a:r>
              <a:rPr dirty="0"/>
              <a:t> </a:t>
            </a:r>
            <a:r>
              <a:rPr dirty="0" err="1"/>
              <a:t>accuracy를</a:t>
            </a:r>
            <a:r>
              <a:rPr dirty="0"/>
              <a:t> </a:t>
            </a:r>
            <a:r>
              <a:rPr dirty="0" err="1"/>
              <a:t>올리는</a:t>
            </a:r>
            <a:r>
              <a:rPr dirty="0"/>
              <a:t> </a:t>
            </a:r>
            <a:r>
              <a:rPr dirty="0" err="1"/>
              <a:t>선택지가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feature-based reliability </a:t>
            </a:r>
            <a:r>
              <a:rPr dirty="0" err="1"/>
              <a:t>monitor가</a:t>
            </a:r>
            <a:r>
              <a:rPr dirty="0"/>
              <a:t> </a:t>
            </a:r>
            <a:r>
              <a:rPr dirty="0" err="1"/>
              <a:t>읽는</a:t>
            </a:r>
            <a:r>
              <a:rPr dirty="0"/>
              <a:t> penultimate </a:t>
            </a:r>
            <a:r>
              <a:rPr dirty="0" err="1"/>
              <a:t>geometry를</a:t>
            </a:r>
            <a:r>
              <a:rPr dirty="0"/>
              <a:t> </a:t>
            </a:r>
            <a:r>
              <a:rPr dirty="0" err="1"/>
              <a:t>바꾸는</a:t>
            </a:r>
            <a:r>
              <a:rPr dirty="0"/>
              <a:t> </a:t>
            </a:r>
            <a:r>
              <a:rPr dirty="0" err="1"/>
              <a:t>intervention으로</a:t>
            </a:r>
            <a:r>
              <a:rPr dirty="0"/>
              <a:t> </a:t>
            </a:r>
            <a:r>
              <a:rPr dirty="0" err="1"/>
              <a:t>본다</a:t>
            </a:r>
            <a:r>
              <a:rPr dirty="0"/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90AB5A3-9DC7-4516-99C7-EF7A79F5A57E}"/>
              </a:ext>
            </a:extLst>
          </p:cNvPr>
          <p:cNvSpPr>
            <a:spLocks noGrp="1"/>
          </p:cNvSpPr>
          <p:nvPr/>
        </p:nvSpPr>
        <p:spPr>
          <a:xfrm>
            <a:off x="895350" y="3333750"/>
            <a:ext cx="1943100" cy="323850"/>
          </a:xfrm>
          <a:prstGeom prst="roundRect">
            <a:avLst>
              <a:gd name="adj" fmla="val 23529"/>
            </a:avLst>
          </a:prstGeom>
          <a:solidFill>
            <a:srgbClr val="2E5AAC"/>
          </a:solidFill>
          <a:ln w="9525">
            <a:solidFill>
              <a:srgbClr val="2E5AAC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2D48E79-7202-44E6-9D3F-B366A581D9DE}"/>
              </a:ext>
            </a:extLst>
          </p:cNvPr>
          <p:cNvSpPr>
            <a:spLocks noGrp="1"/>
          </p:cNvSpPr>
          <p:nvPr/>
        </p:nvSpPr>
        <p:spPr>
          <a:xfrm>
            <a:off x="971550" y="3371850"/>
            <a:ext cx="179070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ctr">
            <a:normAutofit fontScale="95238"/>
          </a:bodyPr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optimizer choice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F91409-6F2B-44CB-8F0C-DDA15BEFB38D}"/>
              </a:ext>
            </a:extLst>
          </p:cNvPr>
          <p:cNvSpPr>
            <a:spLocks noGrp="1"/>
          </p:cNvSpPr>
          <p:nvPr/>
        </p:nvSpPr>
        <p:spPr>
          <a:xfrm>
            <a:off x="2990850" y="3314700"/>
            <a:ext cx="30480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77381"/>
          </a:bodyPr>
          <a:lstStyle/>
          <a:p>
            <a:pPr algn="ctr">
              <a:defRPr sz="2100" b="1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+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7182D12-64EA-4691-8ACD-97319994E877}"/>
              </a:ext>
            </a:extLst>
          </p:cNvPr>
          <p:cNvSpPr>
            <a:spLocks noGrp="1"/>
          </p:cNvSpPr>
          <p:nvPr/>
        </p:nvSpPr>
        <p:spPr>
          <a:xfrm>
            <a:off x="3448050" y="3333750"/>
            <a:ext cx="1676400" cy="323850"/>
          </a:xfrm>
          <a:prstGeom prst="roundRect">
            <a:avLst>
              <a:gd name="adj" fmla="val 23529"/>
            </a:avLst>
          </a:prstGeom>
          <a:solidFill>
            <a:srgbClr val="138A8A"/>
          </a:solidFill>
          <a:ln w="9525">
            <a:solidFill>
              <a:srgbClr val="138A8A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F0FFC1-C738-491C-8B97-393EA915793A}"/>
              </a:ext>
            </a:extLst>
          </p:cNvPr>
          <p:cNvSpPr>
            <a:spLocks noGrp="1"/>
          </p:cNvSpPr>
          <p:nvPr/>
        </p:nvSpPr>
        <p:spPr>
          <a:xfrm>
            <a:off x="3524250" y="3371850"/>
            <a:ext cx="152400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ctr">
            <a:normAutofit fontScale="95238"/>
          </a:bodyPr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WD coupling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A23B7BD-75B9-4A56-BA94-8C47EDA89AD2}"/>
              </a:ext>
            </a:extLst>
          </p:cNvPr>
          <p:cNvSpPr>
            <a:spLocks noGrp="1"/>
          </p:cNvSpPr>
          <p:nvPr/>
        </p:nvSpPr>
        <p:spPr>
          <a:xfrm>
            <a:off x="5286375" y="3314700"/>
            <a:ext cx="45720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72222"/>
          </a:bodyPr>
          <a:lstStyle/>
          <a:p>
            <a:pPr algn="ctr">
              <a:defRPr sz="2250" b="1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590E2AC-DB28-4B2B-A578-65DA2E368BB9}"/>
              </a:ext>
            </a:extLst>
          </p:cNvPr>
          <p:cNvSpPr>
            <a:spLocks noGrp="1"/>
          </p:cNvSpPr>
          <p:nvPr/>
        </p:nvSpPr>
        <p:spPr>
          <a:xfrm>
            <a:off x="5924550" y="3333750"/>
            <a:ext cx="3086100" cy="323850"/>
          </a:xfrm>
          <a:prstGeom prst="roundRect">
            <a:avLst>
              <a:gd name="adj" fmla="val 23529"/>
            </a:avLst>
          </a:prstGeom>
          <a:solidFill>
            <a:srgbClr val="6E5AA8"/>
          </a:solidFill>
          <a:ln w="9525">
            <a:solidFill>
              <a:srgbClr val="6E5AA8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848A03-E1E9-4FC0-B047-77156D8D517D}"/>
              </a:ext>
            </a:extLst>
          </p:cNvPr>
          <p:cNvSpPr>
            <a:spLocks noGrp="1"/>
          </p:cNvSpPr>
          <p:nvPr/>
        </p:nvSpPr>
        <p:spPr>
          <a:xfrm>
            <a:off x="6000750" y="3371850"/>
            <a:ext cx="293370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ctr">
            <a:normAutofit fontScale="95238"/>
          </a:bodyPr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penultimate geometry / NC regime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1111AB-60A3-40D5-BAD6-91C82DFF26B1}"/>
              </a:ext>
            </a:extLst>
          </p:cNvPr>
          <p:cNvSpPr>
            <a:spLocks noGrp="1"/>
          </p:cNvSpPr>
          <p:nvPr/>
        </p:nvSpPr>
        <p:spPr>
          <a:xfrm>
            <a:off x="9163050" y="3314700"/>
            <a:ext cx="45720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72222"/>
          </a:bodyPr>
          <a:lstStyle/>
          <a:p>
            <a:pPr algn="ctr">
              <a:defRPr sz="2250" b="1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C8219A8-D9D9-4024-BBCE-6260650D856D}"/>
              </a:ext>
            </a:extLst>
          </p:cNvPr>
          <p:cNvSpPr>
            <a:spLocks noGrp="1"/>
          </p:cNvSpPr>
          <p:nvPr/>
        </p:nvSpPr>
        <p:spPr>
          <a:xfrm>
            <a:off x="9734550" y="3333750"/>
            <a:ext cx="2000250" cy="323850"/>
          </a:xfrm>
          <a:prstGeom prst="roundRect">
            <a:avLst>
              <a:gd name="adj" fmla="val 23529"/>
            </a:avLst>
          </a:prstGeom>
          <a:solidFill>
            <a:srgbClr val="C98512"/>
          </a:solidFill>
          <a:ln w="9525">
            <a:solidFill>
              <a:srgbClr val="C98512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BF6B6E-8636-40FE-8012-CF18E67DEA6F}"/>
              </a:ext>
            </a:extLst>
          </p:cNvPr>
          <p:cNvSpPr>
            <a:spLocks noGrp="1"/>
          </p:cNvSpPr>
          <p:nvPr/>
        </p:nvSpPr>
        <p:spPr>
          <a:xfrm>
            <a:off x="9810750" y="3371850"/>
            <a:ext cx="184785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ctr">
            <a:normAutofit fontScale="95238"/>
          </a:bodyPr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Maha · DDU/GMM · kNN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DBD372D-6709-426A-BCC5-CBE8C8F6AA7B}"/>
              </a:ext>
            </a:extLst>
          </p:cNvPr>
          <p:cNvSpPr>
            <a:spLocks noGrp="1"/>
          </p:cNvSpPr>
          <p:nvPr/>
        </p:nvSpPr>
        <p:spPr>
          <a:xfrm>
            <a:off x="819150" y="4248150"/>
            <a:ext cx="49339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95825A6-16AA-4FAC-B9F6-DE4CE9585A8C}"/>
              </a:ext>
            </a:extLst>
          </p:cNvPr>
          <p:cNvSpPr>
            <a:spLocks noGrp="1"/>
          </p:cNvSpPr>
          <p:nvPr/>
        </p:nvSpPr>
        <p:spPr>
          <a:xfrm>
            <a:off x="819150" y="4248150"/>
            <a:ext cx="76200" cy="1200150"/>
          </a:xfrm>
          <a:prstGeom prst="rect">
            <a:avLst/>
          </a:prstGeom>
          <a:solidFill>
            <a:srgbClr val="138A8A"/>
          </a:solidFill>
          <a:ln w="9525">
            <a:solidFill>
              <a:srgbClr val="138A8A"/>
            </a:solidFill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556639F-CDC5-4E07-BEE2-18A2F8809203}"/>
              </a:ext>
            </a:extLst>
          </p:cNvPr>
          <p:cNvSpPr>
            <a:spLocks noGrp="1"/>
          </p:cNvSpPr>
          <p:nvPr/>
        </p:nvSpPr>
        <p:spPr>
          <a:xfrm>
            <a:off x="1009650" y="4381500"/>
            <a:ext cx="45910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Core claim to test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9C56E42-D5D4-493C-848B-44CEA3B05E35}"/>
              </a:ext>
            </a:extLst>
          </p:cNvPr>
          <p:cNvSpPr>
            <a:spLocks noGrp="1"/>
          </p:cNvSpPr>
          <p:nvPr/>
        </p:nvSpPr>
        <p:spPr>
          <a:xfrm>
            <a:off x="1009650" y="4743450"/>
            <a:ext cx="4591050" cy="5905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7875"/>
          </a:bodyPr>
          <a:lstStyle/>
          <a:p>
            <a:pPr algn="l">
              <a:defRPr sz="13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같은 ID accuracy라도 feature geometry가 달라지면 feature-based OOD detector의 reliability는 달라질 수 있다.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B737389-DAA2-4BBC-B64E-CCFD96EE5CD6}"/>
              </a:ext>
            </a:extLst>
          </p:cNvPr>
          <p:cNvSpPr>
            <a:spLocks noGrp="1"/>
          </p:cNvSpPr>
          <p:nvPr/>
        </p:nvSpPr>
        <p:spPr>
          <a:xfrm>
            <a:off x="6191250" y="4248150"/>
            <a:ext cx="49339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D1B75A-1FA6-4B84-BCA5-8531F103AEA1}"/>
              </a:ext>
            </a:extLst>
          </p:cNvPr>
          <p:cNvSpPr>
            <a:spLocks noGrp="1"/>
          </p:cNvSpPr>
          <p:nvPr/>
        </p:nvSpPr>
        <p:spPr>
          <a:xfrm>
            <a:off x="6191250" y="4248150"/>
            <a:ext cx="76200" cy="1200150"/>
          </a:xfrm>
          <a:prstGeom prst="rect">
            <a:avLst/>
          </a:prstGeom>
          <a:solidFill>
            <a:srgbClr val="B94A48"/>
          </a:solidFill>
          <a:ln w="9525">
            <a:solidFill>
              <a:srgbClr val="B94A48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1BAEB68-C820-479E-A77D-A071BAD585D1}"/>
              </a:ext>
            </a:extLst>
          </p:cNvPr>
          <p:cNvSpPr>
            <a:spLocks noGrp="1"/>
          </p:cNvSpPr>
          <p:nvPr/>
        </p:nvSpPr>
        <p:spPr>
          <a:xfrm>
            <a:off x="6381750" y="4381500"/>
            <a:ext cx="45910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Evidence boundary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E8074F-482B-4FC5-B4DF-CD586C30BE4D}"/>
              </a:ext>
            </a:extLst>
          </p:cNvPr>
          <p:cNvSpPr>
            <a:spLocks noGrp="1"/>
          </p:cNvSpPr>
          <p:nvPr/>
        </p:nvSpPr>
        <p:spPr>
          <a:xfrm>
            <a:off x="6381750" y="4743450"/>
            <a:ext cx="4591050" cy="5905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3750"/>
          </a:bodyPr>
          <a:lstStyle/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문헌은</a:t>
            </a:r>
            <a:r>
              <a:rPr dirty="0"/>
              <a:t> </a:t>
            </a:r>
            <a:r>
              <a:rPr dirty="0" err="1"/>
              <a:t>optimizer→geometry와</a:t>
            </a:r>
            <a:r>
              <a:rPr dirty="0"/>
              <a:t> </a:t>
            </a:r>
            <a:r>
              <a:rPr dirty="0" err="1"/>
              <a:t>detector→geometry</a:t>
            </a:r>
            <a:r>
              <a:rPr dirty="0"/>
              <a:t> </a:t>
            </a:r>
            <a:r>
              <a:rPr dirty="0" err="1"/>
              <a:t>sensitivity를</a:t>
            </a:r>
            <a:r>
              <a:rPr dirty="0"/>
              <a:t> </a:t>
            </a:r>
            <a:r>
              <a:rPr dirty="0" err="1"/>
              <a:t>지지한다</a:t>
            </a:r>
            <a:r>
              <a:rPr dirty="0"/>
              <a:t>. </a:t>
            </a:r>
            <a:r>
              <a:rPr dirty="0" err="1"/>
              <a:t>optimizer→detector</a:t>
            </a:r>
            <a:r>
              <a:rPr dirty="0"/>
              <a:t> </a:t>
            </a:r>
            <a:r>
              <a:rPr dirty="0" err="1"/>
              <a:t>behavior는</a:t>
            </a:r>
            <a:r>
              <a:rPr dirty="0"/>
              <a:t> </a:t>
            </a:r>
            <a:r>
              <a:rPr dirty="0" err="1"/>
              <a:t>우리</a:t>
            </a:r>
            <a:r>
              <a:rPr dirty="0"/>
              <a:t> controlled </a:t>
            </a:r>
            <a:r>
              <a:rPr dirty="0" err="1"/>
              <a:t>results로</a:t>
            </a:r>
            <a:r>
              <a:rPr dirty="0"/>
              <a:t> </a:t>
            </a:r>
            <a:r>
              <a:rPr dirty="0" err="1"/>
              <a:t>입증한다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56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3E68001A-E419-443E-AA20-90C972C9E9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F6F7F9"/>
            </a:solidFill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23E275-8AAE-4AB8-AE8E-8D398008A8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213D"/>
          </a:solidFill>
          <a:ln w="0">
            <a:solidFill>
              <a:srgbClr val="F6F7F9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AC412C-C498-4C9C-96C5-FD7B0A52ECB5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666750" cy="400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r">
              <a:defRPr sz="21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8862B3-6B1F-420C-808F-96D0A4C931F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85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WHY THIS MATTERS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1982D2-D428-46B6-984A-E50872BF2265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781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6354"/>
          </a:bodyPr>
          <a:lstStyle/>
          <a:p>
            <a:pPr algn="l">
              <a:defRPr sz="24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신뢰성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모델은</a:t>
            </a:r>
            <a:r>
              <a:rPr dirty="0"/>
              <a:t> 잘 </a:t>
            </a:r>
            <a:r>
              <a:rPr dirty="0" err="1"/>
              <a:t>맞추는</a:t>
            </a:r>
            <a:r>
              <a:rPr dirty="0"/>
              <a:t>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넘어</a:t>
            </a:r>
            <a:r>
              <a:rPr dirty="0"/>
              <a:t>, </a:t>
            </a:r>
            <a:br>
              <a:rPr lang="en-US" dirty="0"/>
            </a:br>
            <a:r>
              <a:rPr dirty="0" err="1"/>
              <a:t>틀릴</a:t>
            </a:r>
            <a:r>
              <a:rPr dirty="0"/>
              <a:t> 수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상황과</a:t>
            </a:r>
            <a:r>
              <a:rPr dirty="0"/>
              <a:t> </a:t>
            </a:r>
            <a:r>
              <a:rPr dirty="0" err="1"/>
              <a:t>분포</a:t>
            </a:r>
            <a:r>
              <a:rPr dirty="0"/>
              <a:t> 밖 </a:t>
            </a:r>
            <a:r>
              <a:rPr dirty="0" err="1"/>
              <a:t>입력을</a:t>
            </a:r>
            <a:r>
              <a:rPr dirty="0"/>
              <a:t> </a:t>
            </a:r>
            <a:r>
              <a:rPr dirty="0" err="1"/>
              <a:t>감지해야</a:t>
            </a:r>
            <a:r>
              <a:rPr dirty="0"/>
              <a:t> </a:t>
            </a:r>
            <a:r>
              <a:rPr dirty="0" err="1"/>
              <a:t>한다</a:t>
            </a:r>
            <a:r>
              <a:rPr dirty="0"/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14F62F-CF3F-4522-86AA-7C7EBDCA4718}"/>
              </a:ext>
            </a:extLst>
          </p:cNvPr>
          <p:cNvSpPr>
            <a:spLocks noGrp="1"/>
          </p:cNvSpPr>
          <p:nvPr/>
        </p:nvSpPr>
        <p:spPr>
          <a:xfrm>
            <a:off x="800100" y="1733550"/>
            <a:ext cx="10401300" cy="742950"/>
          </a:xfrm>
          <a:prstGeom prst="roundRect">
            <a:avLst>
              <a:gd name="adj" fmla="val 10256"/>
            </a:avLst>
          </a:prstGeom>
          <a:solidFill>
            <a:srgbClr val="E9F4F4"/>
          </a:solidFill>
          <a:ln w="9525">
            <a:solidFill>
              <a:srgbClr val="CDE5E5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8B873D-CCBA-4A55-B808-CF5510CDB0F9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9982200" cy="4381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02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t>Reliability = ID accuracy + calibration + OOD / epistemic uncertainty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6B6F5FB-9872-4A36-A288-3F95C0E7A254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BE546C-8422-4A36-8C68-48AAB948F6A5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76200" cy="1809750"/>
          </a:xfrm>
          <a:prstGeom prst="rect">
            <a:avLst/>
          </a:prstGeom>
          <a:solidFill>
            <a:srgbClr val="2E5AAC"/>
          </a:solidFill>
          <a:ln w="9525">
            <a:solidFill>
              <a:srgbClr val="2E5AAC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49D626-6007-4A88-90BC-581547206E5D}"/>
              </a:ext>
            </a:extLst>
          </p:cNvPr>
          <p:cNvSpPr>
            <a:spLocks noGrp="1"/>
          </p:cNvSpPr>
          <p:nvPr/>
        </p:nvSpPr>
        <p:spPr>
          <a:xfrm>
            <a:off x="1028700" y="3124200"/>
            <a:ext cx="28003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Logit score가 읽는 것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59546D-C9F9-4D99-8DF4-5D4A634C108B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2800350" cy="12001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MSP / Energy / </a:t>
            </a:r>
            <a:r>
              <a:rPr dirty="0" err="1"/>
              <a:t>MaxLogit</a:t>
            </a:r>
            <a:endParaRPr dirty="0"/>
          </a:p>
          <a:p>
            <a:pPr algn="l">
              <a:defRPr sz="13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  <a:p>
            <a:pPr algn="l">
              <a:defRPr sz="13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출력</a:t>
            </a:r>
            <a:r>
              <a:rPr dirty="0"/>
              <a:t> confidence, margin, logit </a:t>
            </a:r>
            <a:r>
              <a:rPr dirty="0" err="1"/>
              <a:t>scale을</a:t>
            </a:r>
            <a:r>
              <a:rPr dirty="0"/>
              <a:t> </a:t>
            </a:r>
            <a:r>
              <a:rPr dirty="0" err="1"/>
              <a:t>읽는다</a:t>
            </a:r>
            <a:r>
              <a:rPr dirty="0"/>
              <a:t>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3E0A252-9D04-4EC8-95D8-1D4F7CD2024C}"/>
              </a:ext>
            </a:extLst>
          </p:cNvPr>
          <p:cNvSpPr>
            <a:spLocks noGrp="1"/>
          </p:cNvSpPr>
          <p:nvPr/>
        </p:nvSpPr>
        <p:spPr>
          <a:xfrm>
            <a:off x="4457700" y="299085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1F4A35-5A06-46E9-B56F-10E426BA8C27}"/>
              </a:ext>
            </a:extLst>
          </p:cNvPr>
          <p:cNvSpPr>
            <a:spLocks noGrp="1"/>
          </p:cNvSpPr>
          <p:nvPr/>
        </p:nvSpPr>
        <p:spPr>
          <a:xfrm>
            <a:off x="4457700" y="2990850"/>
            <a:ext cx="76200" cy="1809750"/>
          </a:xfrm>
          <a:prstGeom prst="rect">
            <a:avLst/>
          </a:prstGeom>
          <a:solidFill>
            <a:srgbClr val="138A8A"/>
          </a:solidFill>
          <a:ln w="9525">
            <a:solidFill>
              <a:srgbClr val="138A8A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FC0CAA-53C3-4F6D-B842-CC63D3F682A5}"/>
              </a:ext>
            </a:extLst>
          </p:cNvPr>
          <p:cNvSpPr>
            <a:spLocks noGrp="1"/>
          </p:cNvSpPr>
          <p:nvPr/>
        </p:nvSpPr>
        <p:spPr>
          <a:xfrm>
            <a:off x="4648200" y="3124200"/>
            <a:ext cx="28003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Feature detector가 읽는 것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5C49F8-08F8-4BB9-A30B-E706F21B431C}"/>
              </a:ext>
            </a:extLst>
          </p:cNvPr>
          <p:cNvSpPr>
            <a:spLocks noGrp="1"/>
          </p:cNvSpPr>
          <p:nvPr/>
        </p:nvSpPr>
        <p:spPr>
          <a:xfrm>
            <a:off x="4648200" y="3486150"/>
            <a:ext cx="2800350" cy="12001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Mahalanobis / DDU / kNN</a:t>
            </a:r>
          </a:p>
          <a:p>
            <a:pPr algn="l">
              <a:defRPr sz="13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/>
          </a:p>
          <a:p>
            <a:pPr algn="l">
              <a:defRPr sz="13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class mean, covariance, local neighborhood를 읽는다.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73E824B-0D40-4FC1-9C58-12C67DC64AC8}"/>
              </a:ext>
            </a:extLst>
          </p:cNvPr>
          <p:cNvSpPr>
            <a:spLocks noGrp="1"/>
          </p:cNvSpPr>
          <p:nvPr/>
        </p:nvSpPr>
        <p:spPr>
          <a:xfrm>
            <a:off x="8077200" y="299085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D7DC0FD-5B13-4BEE-8261-B58557621B8C}"/>
              </a:ext>
            </a:extLst>
          </p:cNvPr>
          <p:cNvSpPr>
            <a:spLocks noGrp="1"/>
          </p:cNvSpPr>
          <p:nvPr/>
        </p:nvSpPr>
        <p:spPr>
          <a:xfrm>
            <a:off x="8077200" y="2990850"/>
            <a:ext cx="76200" cy="1809750"/>
          </a:xfrm>
          <a:prstGeom prst="rect">
            <a:avLst/>
          </a:prstGeom>
          <a:solidFill>
            <a:srgbClr val="B94A48"/>
          </a:solidFill>
          <a:ln w="9525">
            <a:solidFill>
              <a:srgbClr val="B94A48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220C768-1B28-4340-8FDC-510C0F5BF93E}"/>
              </a:ext>
            </a:extLst>
          </p:cNvPr>
          <p:cNvSpPr>
            <a:spLocks noGrp="1"/>
          </p:cNvSpPr>
          <p:nvPr/>
        </p:nvSpPr>
        <p:spPr>
          <a:xfrm>
            <a:off x="8267700" y="3124200"/>
            <a:ext cx="28003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실패 모드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8D64C24-9207-4FDD-B7FC-5201FB819D7E}"/>
              </a:ext>
            </a:extLst>
          </p:cNvPr>
          <p:cNvSpPr>
            <a:spLocks noGrp="1"/>
          </p:cNvSpPr>
          <p:nvPr/>
        </p:nvSpPr>
        <p:spPr>
          <a:xfrm>
            <a:off x="8267700" y="3486150"/>
            <a:ext cx="2800350" cy="12001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27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Optimizer가</a:t>
            </a:r>
            <a:r>
              <a:rPr dirty="0"/>
              <a:t> accuracy/</a:t>
            </a:r>
            <a:r>
              <a:rPr dirty="0" err="1"/>
              <a:t>ECE는</a:t>
            </a:r>
            <a:r>
              <a:rPr dirty="0"/>
              <a:t> </a:t>
            </a:r>
            <a:r>
              <a:rPr dirty="0" err="1"/>
              <a:t>좋게</a:t>
            </a:r>
            <a:r>
              <a:rPr dirty="0"/>
              <a:t> </a:t>
            </a:r>
            <a:r>
              <a:rPr dirty="0" err="1"/>
              <a:t>만들면서</a:t>
            </a:r>
            <a:r>
              <a:rPr dirty="0"/>
              <a:t> feature density </a:t>
            </a:r>
            <a:r>
              <a:rPr dirty="0" err="1"/>
              <a:t>geometry를</a:t>
            </a:r>
            <a:r>
              <a:rPr dirty="0"/>
              <a:t> </a:t>
            </a:r>
            <a:r>
              <a:rPr dirty="0" err="1"/>
              <a:t>망가뜨리면</a:t>
            </a:r>
            <a:r>
              <a:rPr dirty="0"/>
              <a:t>, OOD </a:t>
            </a:r>
            <a:r>
              <a:rPr dirty="0" err="1"/>
              <a:t>monitor가</a:t>
            </a:r>
            <a:r>
              <a:rPr dirty="0"/>
              <a:t> </a:t>
            </a:r>
            <a:r>
              <a:rPr dirty="0" err="1"/>
              <a:t>조용히</a:t>
            </a:r>
            <a:r>
              <a:rPr dirty="0"/>
              <a:t> </a:t>
            </a:r>
            <a:r>
              <a:rPr dirty="0" err="1"/>
              <a:t>실패할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037A3E-519C-464A-A233-0F0973F6FB30}"/>
              </a:ext>
            </a:extLst>
          </p:cNvPr>
          <p:cNvSpPr>
            <a:spLocks noGrp="1"/>
          </p:cNvSpPr>
          <p:nvPr/>
        </p:nvSpPr>
        <p:spPr>
          <a:xfrm>
            <a:off x="990600" y="5143500"/>
            <a:ext cx="9810750" cy="5143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5833"/>
          </a:bodyPr>
          <a:lstStyle/>
          <a:p>
            <a:pPr algn="ctr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따라서</a:t>
            </a:r>
            <a:r>
              <a:rPr dirty="0"/>
              <a:t> optimizer </a:t>
            </a:r>
            <a:r>
              <a:rPr dirty="0" err="1"/>
              <a:t>비교는</a:t>
            </a:r>
            <a:r>
              <a:rPr dirty="0"/>
              <a:t> </a:t>
            </a:r>
            <a:r>
              <a:rPr dirty="0" err="1"/>
              <a:t>단순한</a:t>
            </a:r>
            <a:r>
              <a:rPr dirty="0"/>
              <a:t> </a:t>
            </a:r>
            <a:r>
              <a:rPr dirty="0" err="1"/>
              <a:t>성능표가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br>
              <a:rPr lang="en-US" dirty="0"/>
            </a:br>
            <a:r>
              <a:rPr dirty="0" err="1"/>
              <a:t>배포</a:t>
            </a:r>
            <a:r>
              <a:rPr dirty="0"/>
              <a:t> </a:t>
            </a:r>
            <a:r>
              <a:rPr dirty="0" err="1"/>
              <a:t>신뢰성</a:t>
            </a:r>
            <a:r>
              <a:rPr dirty="0"/>
              <a:t> </a:t>
            </a:r>
            <a:r>
              <a:rPr dirty="0" err="1"/>
              <a:t>monitor가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representation을</a:t>
            </a:r>
            <a:r>
              <a:rPr dirty="0"/>
              <a:t> </a:t>
            </a:r>
            <a:r>
              <a:rPr dirty="0" err="1"/>
              <a:t>읽게</a:t>
            </a:r>
            <a:r>
              <a:rPr dirty="0"/>
              <a:t> </a:t>
            </a:r>
            <a:r>
              <a:rPr dirty="0" err="1"/>
              <a:t>되는지에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protocol </a:t>
            </a:r>
            <a:r>
              <a:rPr dirty="0" err="1"/>
              <a:t>문제다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101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9AC898-1298-4FE7-9AAE-B39D21F5A1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F6F7F9"/>
            </a:solidFill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9EC3A3-9D36-4474-A817-D7ACC4B236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213D"/>
          </a:solidFill>
          <a:ln w="0">
            <a:solidFill>
              <a:srgbClr val="F6F7F9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790E6F-AF08-4557-BE8E-60770F376032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666750" cy="400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r">
              <a:defRPr sz="21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C70DB7-48B5-44FA-A45F-A4C502B55D7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85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OPTIMIZER MECHANICS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FBE7FA-2A9A-4C22-A3E3-B8699FB5A5EA}"/>
              </a:ext>
            </a:extLst>
          </p:cNvPr>
          <p:cNvSpPr>
            <a:spLocks noGrp="1"/>
          </p:cNvSpPr>
          <p:nvPr/>
        </p:nvSpPr>
        <p:spPr>
          <a:xfrm>
            <a:off x="534119" y="723900"/>
            <a:ext cx="11276162" cy="781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6354"/>
          </a:bodyPr>
          <a:lstStyle/>
          <a:p>
            <a:pPr algn="l">
              <a:defRPr sz="24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세 </a:t>
            </a:r>
            <a:r>
              <a:rPr dirty="0" err="1"/>
              <a:t>optimizer는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loss를</a:t>
            </a:r>
            <a:r>
              <a:rPr dirty="0"/>
              <a:t> </a:t>
            </a:r>
            <a:r>
              <a:rPr dirty="0" err="1"/>
              <a:t>보더라도</a:t>
            </a:r>
            <a:r>
              <a:rPr dirty="0"/>
              <a:t> </a:t>
            </a:r>
            <a:r>
              <a:rPr dirty="0" err="1"/>
              <a:t>업데이트</a:t>
            </a:r>
            <a:r>
              <a:rPr dirty="0"/>
              <a:t> </a:t>
            </a:r>
            <a:r>
              <a:rPr dirty="0" err="1"/>
              <a:t>채널과</a:t>
            </a:r>
            <a:r>
              <a:rPr dirty="0"/>
              <a:t> weight-decay </a:t>
            </a:r>
            <a:r>
              <a:rPr dirty="0" err="1"/>
              <a:t>경로가</a:t>
            </a:r>
            <a:r>
              <a:rPr dirty="0"/>
              <a:t> </a:t>
            </a:r>
            <a:r>
              <a:rPr dirty="0" err="1"/>
              <a:t>다르다</a:t>
            </a:r>
            <a:r>
              <a:rPr dirty="0"/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E423051-BE51-421B-8E0F-6CC6A9DDCEDF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3409950" cy="3219450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F3E9096-5955-472B-909E-2D2B60E908D8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76200" cy="3219450"/>
          </a:xfrm>
          <a:prstGeom prst="rect">
            <a:avLst/>
          </a:prstGeom>
          <a:solidFill>
            <a:srgbClr val="2E5AAC"/>
          </a:solidFill>
          <a:ln w="9525">
            <a:solidFill>
              <a:srgbClr val="2E5AAC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D395A5-A185-49D4-BB38-92446C1EDA27}"/>
              </a:ext>
            </a:extLst>
          </p:cNvPr>
          <p:cNvSpPr>
            <a:spLocks noGrp="1"/>
          </p:cNvSpPr>
          <p:nvPr/>
        </p:nvSpPr>
        <p:spPr>
          <a:xfrm>
            <a:off x="876300" y="1828800"/>
            <a:ext cx="30670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SGD + Momentum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1DBDE5-FA8A-4AE3-B81B-5EF3F4EACAD6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3067050" cy="2609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g_t</a:t>
            </a:r>
            <a:r>
              <a:rPr dirty="0"/>
              <a:t> = grad L + lambda*theta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v_t</a:t>
            </a:r>
            <a:r>
              <a:rPr dirty="0"/>
              <a:t> = mu*v_{t-1} + </a:t>
            </a:r>
            <a:r>
              <a:rPr dirty="0" err="1"/>
              <a:t>g_t</a:t>
            </a:r>
            <a:endParaRPr dirty="0"/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theta &lt;- theta - eta*</a:t>
            </a:r>
            <a:r>
              <a:rPr dirty="0" err="1"/>
              <a:t>v_t</a:t>
            </a:r>
            <a:endParaRPr dirty="0"/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좌표에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LR을</a:t>
            </a:r>
            <a:r>
              <a:rPr dirty="0"/>
              <a:t> </a:t>
            </a:r>
            <a:r>
              <a:rPr dirty="0" err="1"/>
              <a:t>쓰고</a:t>
            </a:r>
            <a:r>
              <a:rPr dirty="0"/>
              <a:t>, </a:t>
            </a:r>
            <a:r>
              <a:rPr dirty="0" err="1"/>
              <a:t>과거</a:t>
            </a:r>
            <a:r>
              <a:rPr dirty="0"/>
              <a:t> gradient </a:t>
            </a:r>
            <a:r>
              <a:rPr dirty="0" err="1"/>
              <a:t>방향을</a:t>
            </a:r>
            <a:r>
              <a:rPr dirty="0"/>
              <a:t> </a:t>
            </a:r>
            <a:r>
              <a:rPr dirty="0" err="1"/>
              <a:t>관성처럼</a:t>
            </a:r>
            <a:r>
              <a:rPr dirty="0"/>
              <a:t> </a:t>
            </a:r>
            <a:r>
              <a:rPr dirty="0" err="1"/>
              <a:t>누적한다</a:t>
            </a:r>
            <a:r>
              <a:rPr dirty="0"/>
              <a:t>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B5DDB8A-8C71-4458-8246-A3086CF705D4}"/>
              </a:ext>
            </a:extLst>
          </p:cNvPr>
          <p:cNvSpPr>
            <a:spLocks noGrp="1"/>
          </p:cNvSpPr>
          <p:nvPr/>
        </p:nvSpPr>
        <p:spPr>
          <a:xfrm>
            <a:off x="4400550" y="1695450"/>
            <a:ext cx="3409950" cy="3219450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F2125E-B213-4397-A500-C49C9ABF5BE6}"/>
              </a:ext>
            </a:extLst>
          </p:cNvPr>
          <p:cNvSpPr>
            <a:spLocks noGrp="1"/>
          </p:cNvSpPr>
          <p:nvPr/>
        </p:nvSpPr>
        <p:spPr>
          <a:xfrm>
            <a:off x="4400550" y="1695450"/>
            <a:ext cx="76200" cy="3219450"/>
          </a:xfrm>
          <a:prstGeom prst="rect">
            <a:avLst/>
          </a:prstGeom>
          <a:solidFill>
            <a:srgbClr val="138A8A"/>
          </a:solidFill>
          <a:ln w="9525">
            <a:solidFill>
              <a:srgbClr val="138A8A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DC029B-B9B8-4BAD-B1FE-838903B7CA13}"/>
              </a:ext>
            </a:extLst>
          </p:cNvPr>
          <p:cNvSpPr>
            <a:spLocks noGrp="1"/>
          </p:cNvSpPr>
          <p:nvPr/>
        </p:nvSpPr>
        <p:spPr>
          <a:xfrm>
            <a:off x="4591050" y="1828800"/>
            <a:ext cx="30670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Adam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7CADBC-83EA-4A5B-A0B9-6A9CB5F7C77F}"/>
              </a:ext>
            </a:extLst>
          </p:cNvPr>
          <p:cNvSpPr>
            <a:spLocks noGrp="1"/>
          </p:cNvSpPr>
          <p:nvPr/>
        </p:nvSpPr>
        <p:spPr>
          <a:xfrm>
            <a:off x="4591050" y="2190750"/>
            <a:ext cx="3067050" cy="2609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g_t</a:t>
            </a:r>
            <a:r>
              <a:rPr dirty="0"/>
              <a:t> = grad L + lambda*theta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m_t</a:t>
            </a:r>
            <a:r>
              <a:rPr dirty="0"/>
              <a:t> = EMA(</a:t>
            </a:r>
            <a:r>
              <a:rPr dirty="0" err="1"/>
              <a:t>g_t</a:t>
            </a:r>
            <a:r>
              <a:rPr dirty="0"/>
              <a:t>)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v_t</a:t>
            </a:r>
            <a:r>
              <a:rPr dirty="0"/>
              <a:t> = EMA(g_t^2)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theta &lt;- theta - eta*</a:t>
            </a:r>
            <a:r>
              <a:rPr dirty="0" err="1"/>
              <a:t>m_hat</a:t>
            </a:r>
            <a:r>
              <a:rPr dirty="0"/>
              <a:t>/sqrt(</a:t>
            </a:r>
            <a:r>
              <a:rPr dirty="0" err="1"/>
              <a:t>v_hat</a:t>
            </a:r>
            <a:r>
              <a:rPr dirty="0"/>
              <a:t>)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좌표별</a:t>
            </a:r>
            <a:r>
              <a:rPr dirty="0"/>
              <a:t> gradient </a:t>
            </a:r>
            <a:r>
              <a:rPr dirty="0" err="1"/>
              <a:t>이력으로</a:t>
            </a:r>
            <a:r>
              <a:rPr dirty="0"/>
              <a:t> step </a:t>
            </a:r>
            <a:r>
              <a:rPr dirty="0" err="1"/>
              <a:t>scale을</a:t>
            </a:r>
            <a:r>
              <a:rPr dirty="0"/>
              <a:t> </a:t>
            </a:r>
            <a:r>
              <a:rPr dirty="0" err="1"/>
              <a:t>조절한다</a:t>
            </a:r>
            <a:r>
              <a:rPr dirty="0"/>
              <a:t>. Coupled </a:t>
            </a:r>
            <a:r>
              <a:rPr dirty="0" err="1"/>
              <a:t>WD는</a:t>
            </a:r>
            <a:r>
              <a:rPr dirty="0"/>
              <a:t> moment </a:t>
            </a:r>
            <a:r>
              <a:rPr dirty="0" err="1"/>
              <a:t>추정</a:t>
            </a:r>
            <a:r>
              <a:rPr dirty="0"/>
              <a:t> </a:t>
            </a:r>
            <a:r>
              <a:rPr dirty="0" err="1"/>
              <a:t>안으로</a:t>
            </a:r>
            <a:r>
              <a:rPr dirty="0"/>
              <a:t> </a:t>
            </a:r>
            <a:r>
              <a:rPr dirty="0" err="1"/>
              <a:t>들어간다</a:t>
            </a:r>
            <a:r>
              <a:rPr dirty="0"/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C73A80A-DF93-433B-B000-A4071553DD99}"/>
              </a:ext>
            </a:extLst>
          </p:cNvPr>
          <p:cNvSpPr>
            <a:spLocks noGrp="1"/>
          </p:cNvSpPr>
          <p:nvPr/>
        </p:nvSpPr>
        <p:spPr>
          <a:xfrm>
            <a:off x="8115300" y="1695450"/>
            <a:ext cx="3409950" cy="3219450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51AC8F1-54B8-485E-852F-12F63FAA3FFB}"/>
              </a:ext>
            </a:extLst>
          </p:cNvPr>
          <p:cNvSpPr>
            <a:spLocks noGrp="1"/>
          </p:cNvSpPr>
          <p:nvPr/>
        </p:nvSpPr>
        <p:spPr>
          <a:xfrm>
            <a:off x="8115300" y="1695450"/>
            <a:ext cx="76200" cy="3219450"/>
          </a:xfrm>
          <a:prstGeom prst="rect">
            <a:avLst/>
          </a:prstGeom>
          <a:solidFill>
            <a:srgbClr val="C98512"/>
          </a:solidFill>
          <a:ln w="9525">
            <a:solidFill>
              <a:srgbClr val="C98512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36727B1-890F-400E-B9DB-AF336C2F81F2}"/>
              </a:ext>
            </a:extLst>
          </p:cNvPr>
          <p:cNvSpPr>
            <a:spLocks noGrp="1"/>
          </p:cNvSpPr>
          <p:nvPr/>
        </p:nvSpPr>
        <p:spPr>
          <a:xfrm>
            <a:off x="8305800" y="1828800"/>
            <a:ext cx="30670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AdamW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32037F7-1F51-436B-A20F-27AB18AB1BAE}"/>
              </a:ext>
            </a:extLst>
          </p:cNvPr>
          <p:cNvSpPr>
            <a:spLocks noGrp="1"/>
          </p:cNvSpPr>
          <p:nvPr/>
        </p:nvSpPr>
        <p:spPr>
          <a:xfrm>
            <a:off x="8305800" y="2190750"/>
            <a:ext cx="3067050" cy="2609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m_t</a:t>
            </a:r>
            <a:r>
              <a:rPr dirty="0"/>
              <a:t>, </a:t>
            </a:r>
            <a:r>
              <a:rPr dirty="0" err="1"/>
              <a:t>v_t</a:t>
            </a:r>
            <a:r>
              <a:rPr dirty="0"/>
              <a:t>: from grad L only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theta &lt;- (1-eta*lambda)theta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          - eta*</a:t>
            </a:r>
            <a:r>
              <a:rPr dirty="0" err="1"/>
              <a:t>m_hat</a:t>
            </a:r>
            <a:r>
              <a:rPr dirty="0"/>
              <a:t>/sqrt(</a:t>
            </a:r>
            <a:r>
              <a:rPr dirty="0" err="1"/>
              <a:t>v_hat</a:t>
            </a:r>
            <a:r>
              <a:rPr dirty="0"/>
              <a:t>)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adaptive gradient </a:t>
            </a:r>
            <a:r>
              <a:rPr dirty="0" err="1"/>
              <a:t>update와</a:t>
            </a:r>
            <a:r>
              <a:rPr dirty="0"/>
              <a:t> weight </a:t>
            </a:r>
            <a:r>
              <a:rPr dirty="0" err="1"/>
              <a:t>shrinkage를</a:t>
            </a:r>
            <a:r>
              <a:rPr dirty="0"/>
              <a:t> </a:t>
            </a:r>
            <a:r>
              <a:rPr dirty="0" err="1"/>
              <a:t>분리한다</a:t>
            </a:r>
            <a:r>
              <a:rPr dirty="0"/>
              <a:t>. </a:t>
            </a:r>
            <a:r>
              <a:rPr dirty="0" err="1"/>
              <a:t>WD가</a:t>
            </a:r>
            <a:r>
              <a:rPr dirty="0"/>
              <a:t> adaptive </a:t>
            </a:r>
            <a:r>
              <a:rPr dirty="0" err="1"/>
              <a:t>normalization에</a:t>
            </a:r>
            <a:r>
              <a:rPr dirty="0"/>
              <a:t> </a:t>
            </a:r>
            <a:r>
              <a:rPr dirty="0" err="1"/>
              <a:t>섞이지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73B8E1E-C56B-4884-9C8B-04B7461F7A8F}"/>
              </a:ext>
            </a:extLst>
          </p:cNvPr>
          <p:cNvSpPr>
            <a:spLocks noGrp="1"/>
          </p:cNvSpPr>
          <p:nvPr/>
        </p:nvSpPr>
        <p:spPr>
          <a:xfrm>
            <a:off x="1562100" y="5257800"/>
            <a:ext cx="9067800" cy="514350"/>
          </a:xfrm>
          <a:prstGeom prst="roundRect">
            <a:avLst>
              <a:gd name="adj" fmla="val 14815"/>
            </a:avLst>
          </a:prstGeom>
          <a:solidFill>
            <a:srgbClr val="FFF6E7"/>
          </a:solidFill>
          <a:ln w="9525">
            <a:solidFill>
              <a:srgbClr val="F0D7A3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5E69C7-DFCB-4046-95BE-8597694B7DE2}"/>
              </a:ext>
            </a:extLst>
          </p:cNvPr>
          <p:cNvSpPr>
            <a:spLocks noGrp="1"/>
          </p:cNvSpPr>
          <p:nvPr/>
        </p:nvSpPr>
        <p:spPr>
          <a:xfrm>
            <a:off x="1771650" y="5353050"/>
            <a:ext cx="864870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ctr">
            <a:normAutofit fontScale="77931" lnSpcReduction="10000"/>
          </a:bodyPr>
          <a:lstStyle/>
          <a:p>
            <a:pPr algn="ctr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Adam </a:t>
            </a:r>
            <a:r>
              <a:rPr dirty="0" err="1"/>
              <a:t>계열은</a:t>
            </a:r>
            <a:r>
              <a:rPr dirty="0"/>
              <a:t> </a:t>
            </a:r>
            <a:r>
              <a:rPr dirty="0" err="1"/>
              <a:t>SGD와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numerical </a:t>
            </a:r>
            <a:r>
              <a:rPr dirty="0" err="1"/>
              <a:t>LR을</a:t>
            </a:r>
            <a:r>
              <a:rPr dirty="0"/>
              <a:t> </a:t>
            </a:r>
            <a:r>
              <a:rPr dirty="0" err="1"/>
              <a:t>쓰는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각 optimizer </a:t>
            </a:r>
            <a:r>
              <a:rPr dirty="0" err="1"/>
              <a:t>family의</a:t>
            </a:r>
            <a:r>
              <a:rPr dirty="0"/>
              <a:t> </a:t>
            </a:r>
            <a:r>
              <a:rPr dirty="0" err="1"/>
              <a:t>안정적인</a:t>
            </a:r>
            <a:r>
              <a:rPr dirty="0"/>
              <a:t> update </a:t>
            </a:r>
            <a:r>
              <a:rPr dirty="0" err="1"/>
              <a:t>scale에서</a:t>
            </a:r>
            <a:r>
              <a:rPr dirty="0"/>
              <a:t> </a:t>
            </a:r>
            <a:r>
              <a:rPr dirty="0" err="1"/>
              <a:t>비교해야</a:t>
            </a:r>
            <a:r>
              <a:rPr dirty="0"/>
              <a:t> </a:t>
            </a:r>
            <a:r>
              <a:rPr dirty="0" err="1"/>
              <a:t>한다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3827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BB3999A2-B4BB-48C4-81E0-30500B4F37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F6F7F9"/>
            </a:solidFill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F58F3E-91ED-495B-8413-5520CA1D8C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213D"/>
          </a:solidFill>
          <a:ln w="0">
            <a:solidFill>
              <a:srgbClr val="F6F7F9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B36A30-0905-4B23-954C-FC97985B6A6C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666750" cy="400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r">
              <a:defRPr sz="21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19F37E-CE65-45C8-9A47-F527B8506F6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85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WD COUPLING AXIS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6B109C-8522-4AF4-B111-DA7B819D257A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781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6354"/>
          </a:bodyPr>
          <a:lstStyle/>
          <a:p>
            <a:pPr algn="l">
              <a:defRPr sz="24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AdamW</a:t>
            </a:r>
            <a:r>
              <a:rPr dirty="0"/>
              <a:t>-to-</a:t>
            </a:r>
            <a:r>
              <a:rPr dirty="0" err="1"/>
              <a:t>Adam은</a:t>
            </a:r>
            <a:r>
              <a:rPr dirty="0"/>
              <a:t> total </a:t>
            </a:r>
            <a:r>
              <a:rPr dirty="0" err="1"/>
              <a:t>WD를</a:t>
            </a:r>
            <a:r>
              <a:rPr dirty="0"/>
              <a:t> </a:t>
            </a:r>
            <a:r>
              <a:rPr dirty="0" err="1"/>
              <a:t>고정한</a:t>
            </a:r>
            <a:r>
              <a:rPr dirty="0"/>
              <a:t> 채 coupling </a:t>
            </a:r>
            <a:r>
              <a:rPr dirty="0" err="1"/>
              <a:t>ratio만</a:t>
            </a:r>
            <a:r>
              <a:rPr dirty="0"/>
              <a:t> </a:t>
            </a:r>
            <a:r>
              <a:rPr dirty="0" err="1"/>
              <a:t>바꾸는</a:t>
            </a:r>
            <a:r>
              <a:rPr dirty="0"/>
              <a:t> geometry intervention </a:t>
            </a:r>
            <a:r>
              <a:rPr dirty="0" err="1"/>
              <a:t>축이다</a:t>
            </a:r>
            <a:r>
              <a:rPr dirty="0"/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B73073-5A92-466F-BC82-2A2959F061F6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3429000" cy="2667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2593"/>
          </a:bodyPr>
          <a:lstStyle/>
          <a:p>
            <a:pPr algn="l">
              <a:defRPr sz="1350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Controlled interpolation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3676F9-9F7C-4F9A-BA13-463211646C89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9620250" cy="76200"/>
          </a:xfrm>
          <a:prstGeom prst="rect">
            <a:avLst/>
          </a:prstGeom>
          <a:solidFill>
            <a:srgbClr val="C6CEDC"/>
          </a:solidFill>
          <a:ln w="9525">
            <a:solidFill>
              <a:srgbClr val="C6CEDC"/>
            </a:solidFill>
          </a:ln>
        </p:spPr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F539BB7-0472-4686-9B49-98653FEBC974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381000" cy="381000"/>
          </a:xfrm>
          <a:prstGeom prst="ellipse">
            <a:avLst/>
          </a:prstGeom>
          <a:solidFill>
            <a:srgbClr val="138A8A"/>
          </a:solidFill>
          <a:ln w="9525">
            <a:solidFill>
              <a:srgbClr val="138A8A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1F2944A-9BBE-460F-99C2-3BA568057BF8}"/>
              </a:ext>
            </a:extLst>
          </p:cNvPr>
          <p:cNvSpPr>
            <a:spLocks noGrp="1"/>
          </p:cNvSpPr>
          <p:nvPr/>
        </p:nvSpPr>
        <p:spPr>
          <a:xfrm>
            <a:off x="133350" y="2552700"/>
            <a:ext cx="1638300" cy="6858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r=0.0</a:t>
            </a:r>
          </a:p>
          <a:p>
            <a:pPr algn="ctr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AdamW-style</a:t>
            </a:r>
          </a:p>
          <a:p>
            <a:pPr algn="ctr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all decoupled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CE75D68-0456-4946-A6B6-574A7CD5F9A6}"/>
              </a:ext>
            </a:extLst>
          </p:cNvPr>
          <p:cNvSpPr>
            <a:spLocks noGrp="1"/>
          </p:cNvSpPr>
          <p:nvPr/>
        </p:nvSpPr>
        <p:spPr>
          <a:xfrm>
            <a:off x="3162300" y="2038350"/>
            <a:ext cx="381000" cy="381000"/>
          </a:xfrm>
          <a:prstGeom prst="ellipse">
            <a:avLst/>
          </a:prstGeom>
          <a:solidFill>
            <a:srgbClr val="D9DEE8"/>
          </a:solidFill>
          <a:ln w="9525">
            <a:solidFill>
              <a:srgbClr val="D9DEE8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7989578-1D8B-4D14-8E68-E6C0532F128A}"/>
              </a:ext>
            </a:extLst>
          </p:cNvPr>
          <p:cNvSpPr>
            <a:spLocks noGrp="1"/>
          </p:cNvSpPr>
          <p:nvPr/>
        </p:nvSpPr>
        <p:spPr>
          <a:xfrm>
            <a:off x="2533650" y="2552700"/>
            <a:ext cx="1638300" cy="6858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0.25</a:t>
            </a:r>
          </a:p>
          <a:p>
            <a:pPr algn="ctr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optional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85D831F-C693-402E-82BB-7B86A4C38B16}"/>
              </a:ext>
            </a:extLst>
          </p:cNvPr>
          <p:cNvSpPr>
            <a:spLocks noGrp="1"/>
          </p:cNvSpPr>
          <p:nvPr/>
        </p:nvSpPr>
        <p:spPr>
          <a:xfrm>
            <a:off x="5562600" y="2038350"/>
            <a:ext cx="381000" cy="381000"/>
          </a:xfrm>
          <a:prstGeom prst="ellipse">
            <a:avLst/>
          </a:prstGeom>
          <a:solidFill>
            <a:srgbClr val="6E5AA8"/>
          </a:solidFill>
          <a:ln w="9525">
            <a:solidFill>
              <a:srgbClr val="6E5AA8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E1ACE0-536B-46DB-9095-FCC0EBA10F8C}"/>
              </a:ext>
            </a:extLst>
          </p:cNvPr>
          <p:cNvSpPr>
            <a:spLocks noGrp="1"/>
          </p:cNvSpPr>
          <p:nvPr/>
        </p:nvSpPr>
        <p:spPr>
          <a:xfrm>
            <a:off x="4933950" y="2552700"/>
            <a:ext cx="1638300" cy="6858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0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0.5</a:t>
            </a:r>
          </a:p>
          <a:p>
            <a:pPr algn="ctr">
              <a:defRPr sz="10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core midpoint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12E7C2A-E6BB-4C72-B527-9850C7B8B4D9}"/>
              </a:ext>
            </a:extLst>
          </p:cNvPr>
          <p:cNvSpPr>
            <a:spLocks noGrp="1"/>
          </p:cNvSpPr>
          <p:nvPr/>
        </p:nvSpPr>
        <p:spPr>
          <a:xfrm>
            <a:off x="7962900" y="2038350"/>
            <a:ext cx="381000" cy="381000"/>
          </a:xfrm>
          <a:prstGeom prst="ellipse">
            <a:avLst/>
          </a:prstGeom>
          <a:solidFill>
            <a:srgbClr val="D9DEE8"/>
          </a:solidFill>
          <a:ln w="9525">
            <a:solidFill>
              <a:srgbClr val="D9DEE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61D30B-F795-4327-A668-1AFF2961F975}"/>
              </a:ext>
            </a:extLst>
          </p:cNvPr>
          <p:cNvSpPr>
            <a:spLocks noGrp="1"/>
          </p:cNvSpPr>
          <p:nvPr/>
        </p:nvSpPr>
        <p:spPr>
          <a:xfrm>
            <a:off x="7334250" y="2552700"/>
            <a:ext cx="1638300" cy="6858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0.75</a:t>
            </a:r>
          </a:p>
          <a:p>
            <a:pPr algn="ctr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optional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37EB8A2-398E-44AE-BAD0-B96F1FA7F6AB}"/>
              </a:ext>
            </a:extLst>
          </p:cNvPr>
          <p:cNvSpPr>
            <a:spLocks noGrp="1"/>
          </p:cNvSpPr>
          <p:nvPr/>
        </p:nvSpPr>
        <p:spPr>
          <a:xfrm>
            <a:off x="10382250" y="2038350"/>
            <a:ext cx="381000" cy="381000"/>
          </a:xfrm>
          <a:prstGeom prst="ellipse">
            <a:avLst/>
          </a:prstGeom>
          <a:solidFill>
            <a:srgbClr val="C98512"/>
          </a:solidFill>
          <a:ln w="9525">
            <a:solidFill>
              <a:srgbClr val="C98512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E0FD58F-AD90-4F25-B7B5-390016292880}"/>
              </a:ext>
            </a:extLst>
          </p:cNvPr>
          <p:cNvSpPr>
            <a:spLocks noGrp="1"/>
          </p:cNvSpPr>
          <p:nvPr/>
        </p:nvSpPr>
        <p:spPr>
          <a:xfrm>
            <a:off x="9753600" y="2552700"/>
            <a:ext cx="1638300" cy="6858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r=1.0</a:t>
            </a:r>
          </a:p>
          <a:p>
            <a:pPr algn="ctr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Adam-style</a:t>
            </a:r>
          </a:p>
          <a:p>
            <a:pPr algn="ctr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all coupled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3009906-80FF-4EAA-8F3C-92C5EDC9C6ED}"/>
              </a:ext>
            </a:extLst>
          </p:cNvPr>
          <p:cNvSpPr>
            <a:spLocks noGrp="1"/>
          </p:cNvSpPr>
          <p:nvPr/>
        </p:nvSpPr>
        <p:spPr>
          <a:xfrm>
            <a:off x="1104900" y="3810000"/>
            <a:ext cx="4476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3A5E56-E0A7-48F0-984E-E8ABF5F649FA}"/>
              </a:ext>
            </a:extLst>
          </p:cNvPr>
          <p:cNvSpPr>
            <a:spLocks noGrp="1"/>
          </p:cNvSpPr>
          <p:nvPr/>
        </p:nvSpPr>
        <p:spPr>
          <a:xfrm>
            <a:off x="1104900" y="3810000"/>
            <a:ext cx="76200" cy="1352550"/>
          </a:xfrm>
          <a:prstGeom prst="rect">
            <a:avLst/>
          </a:prstGeom>
          <a:solidFill>
            <a:srgbClr val="138A8A"/>
          </a:solidFill>
          <a:ln w="9525">
            <a:solidFill>
              <a:srgbClr val="138A8A"/>
            </a:solidFill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29EB71-6397-416C-8346-A9767DAF2A38}"/>
              </a:ext>
            </a:extLst>
          </p:cNvPr>
          <p:cNvSpPr>
            <a:spLocks noGrp="1"/>
          </p:cNvSpPr>
          <p:nvPr/>
        </p:nvSpPr>
        <p:spPr>
          <a:xfrm>
            <a:off x="1295400" y="3943350"/>
            <a:ext cx="41338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Split contract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C27673E-CD6B-4471-9406-16355C742058}"/>
              </a:ext>
            </a:extLst>
          </p:cNvPr>
          <p:cNvSpPr>
            <a:spLocks noGrp="1"/>
          </p:cNvSpPr>
          <p:nvPr/>
        </p:nvSpPr>
        <p:spPr>
          <a:xfrm>
            <a:off x="1295400" y="4305300"/>
            <a:ext cx="4133850" cy="7429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76754"/>
          </a:bodyPr>
          <a:lstStyle/>
          <a:p>
            <a:pPr algn="l">
              <a:defRPr sz="142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λ_coupled</a:t>
            </a:r>
            <a:r>
              <a:rPr dirty="0"/>
              <a:t> = </a:t>
            </a:r>
            <a:r>
              <a:rPr dirty="0" err="1"/>
              <a:t>rλ</a:t>
            </a:r>
            <a:endParaRPr dirty="0"/>
          </a:p>
          <a:p>
            <a:pPr algn="l">
              <a:defRPr sz="142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λ_decoupled</a:t>
            </a:r>
            <a:r>
              <a:rPr dirty="0"/>
              <a:t> = (1-r)λ</a:t>
            </a:r>
          </a:p>
          <a:p>
            <a:pPr algn="l">
              <a:defRPr sz="142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  <a:p>
            <a:pPr algn="l">
              <a:defRPr sz="142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total λ is fixed; only the coupling path changes.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9331F33-2172-4307-B462-FFC613235F36}"/>
              </a:ext>
            </a:extLst>
          </p:cNvPr>
          <p:cNvSpPr>
            <a:spLocks noGrp="1"/>
          </p:cNvSpPr>
          <p:nvPr/>
        </p:nvSpPr>
        <p:spPr>
          <a:xfrm>
            <a:off x="6324600" y="3810000"/>
            <a:ext cx="4476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8E93DE4-FF53-4511-8DBD-244A088E8260}"/>
              </a:ext>
            </a:extLst>
          </p:cNvPr>
          <p:cNvSpPr>
            <a:spLocks noGrp="1"/>
          </p:cNvSpPr>
          <p:nvPr/>
        </p:nvSpPr>
        <p:spPr>
          <a:xfrm>
            <a:off x="6324600" y="3810000"/>
            <a:ext cx="76200" cy="1352550"/>
          </a:xfrm>
          <a:prstGeom prst="rect">
            <a:avLst/>
          </a:prstGeom>
          <a:solidFill>
            <a:srgbClr val="B94A48"/>
          </a:solidFill>
          <a:ln w="9525">
            <a:solidFill>
              <a:srgbClr val="B94A48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E859F5-4C3E-4407-80D4-90DF4F037717}"/>
              </a:ext>
            </a:extLst>
          </p:cNvPr>
          <p:cNvSpPr>
            <a:spLocks noGrp="1"/>
          </p:cNvSpPr>
          <p:nvPr/>
        </p:nvSpPr>
        <p:spPr>
          <a:xfrm>
            <a:off x="6515100" y="3943350"/>
            <a:ext cx="41338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Reporting boundary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A50B96-9FEF-48DA-BE3C-1A35B01CD64C}"/>
              </a:ext>
            </a:extLst>
          </p:cNvPr>
          <p:cNvSpPr>
            <a:spLocks noGrp="1"/>
          </p:cNvSpPr>
          <p:nvPr/>
        </p:nvSpPr>
        <p:spPr>
          <a:xfrm>
            <a:off x="6515100" y="4305300"/>
            <a:ext cx="4133850" cy="7429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27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r=0/1은 custom controlled </a:t>
            </a:r>
            <a:r>
              <a:rPr dirty="0" err="1"/>
              <a:t>optimizer의</a:t>
            </a:r>
            <a:r>
              <a:rPr dirty="0"/>
              <a:t> </a:t>
            </a:r>
            <a:r>
              <a:rPr dirty="0" err="1"/>
              <a:t>endpoints이며</a:t>
            </a:r>
            <a:r>
              <a:rPr dirty="0"/>
              <a:t> </a:t>
            </a:r>
            <a:r>
              <a:rPr dirty="0" err="1"/>
              <a:t>PyTorch</a:t>
            </a:r>
            <a:r>
              <a:rPr dirty="0"/>
              <a:t> </a:t>
            </a:r>
            <a:r>
              <a:rPr dirty="0" err="1"/>
              <a:t>AdamW</a:t>
            </a:r>
            <a:r>
              <a:rPr dirty="0"/>
              <a:t>/Adam full </a:t>
            </a:r>
            <a:r>
              <a:rPr dirty="0" err="1"/>
              <a:t>trajectory와</a:t>
            </a:r>
            <a:r>
              <a:rPr dirty="0"/>
              <a:t> bitwise </a:t>
            </a:r>
            <a:r>
              <a:rPr dirty="0" err="1"/>
              <a:t>identical하다고</a:t>
            </a:r>
            <a:r>
              <a:rPr dirty="0"/>
              <a:t> </a:t>
            </a:r>
            <a:r>
              <a:rPr dirty="0" err="1"/>
              <a:t>주장하지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2845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21189400-949B-46A0-A1CE-7552B36A35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F6F7F9"/>
            </a:solidFill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25D904-C68D-425D-BB82-AE1914E342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213D"/>
          </a:solidFill>
          <a:ln w="0">
            <a:solidFill>
              <a:srgbClr val="F6F7F9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58BAD5-D8D7-4FF0-BDD7-309E9244A9C8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666750" cy="400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r">
              <a:defRPr sz="21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CCB728-3458-4184-BCB5-F1A5C7F2702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85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REFERENCE SUPPORT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3D55C9-1F8D-4484-AAC1-E6287903624F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781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6354"/>
          </a:bodyPr>
          <a:lstStyle/>
          <a:p>
            <a:pPr algn="l">
              <a:defRPr sz="24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문헌</a:t>
            </a:r>
            <a:r>
              <a:rPr dirty="0"/>
              <a:t> </a:t>
            </a:r>
            <a:r>
              <a:rPr dirty="0" err="1"/>
              <a:t>근거는</a:t>
            </a:r>
            <a:r>
              <a:rPr dirty="0"/>
              <a:t> 두 </a:t>
            </a:r>
            <a:r>
              <a:rPr dirty="0" err="1"/>
              <a:t>갈래로만</a:t>
            </a:r>
            <a:r>
              <a:rPr dirty="0"/>
              <a:t> </a:t>
            </a:r>
            <a:r>
              <a:rPr dirty="0" err="1"/>
              <a:t>사용한다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optimizer→geometry</a:t>
            </a:r>
            <a:r>
              <a:rPr dirty="0"/>
              <a:t>, </a:t>
            </a:r>
            <a:r>
              <a:rPr lang="en-US" dirty="0"/>
              <a:t> // </a:t>
            </a:r>
            <a:r>
              <a:rPr dirty="0" err="1"/>
              <a:t>detector→geometry</a:t>
            </a:r>
            <a:r>
              <a:rPr dirty="0"/>
              <a:t> sensitivity.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7A360DA-9234-4F6C-82FF-10F14F892001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50958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90EC003-90A4-4DB4-9485-FB7497CBB244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76200" cy="1428750"/>
          </a:xfrm>
          <a:prstGeom prst="rect">
            <a:avLst/>
          </a:prstGeom>
          <a:solidFill>
            <a:srgbClr val="138A8A"/>
          </a:solidFill>
          <a:ln w="9525">
            <a:solidFill>
              <a:srgbClr val="138A8A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1E7620-D925-43AE-9BF4-F89034D577D6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4752975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AdamW: decoupled WD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F22E5F-C449-41C5-8702-44D60BB7AB1C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4752975" cy="8191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6339"/>
          </a:bodyPr>
          <a:lstStyle/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L2 </a:t>
            </a:r>
            <a:r>
              <a:rPr dirty="0" err="1"/>
              <a:t>regularization과</a:t>
            </a:r>
            <a:r>
              <a:rPr dirty="0"/>
              <a:t> weight </a:t>
            </a:r>
            <a:r>
              <a:rPr dirty="0" err="1"/>
              <a:t>decay는</a:t>
            </a:r>
            <a:r>
              <a:rPr dirty="0"/>
              <a:t> </a:t>
            </a:r>
            <a:r>
              <a:rPr dirty="0" err="1"/>
              <a:t>Adam에서</a:t>
            </a:r>
            <a:r>
              <a:rPr dirty="0"/>
              <a:t> </a:t>
            </a:r>
            <a:r>
              <a:rPr dirty="0" err="1"/>
              <a:t>동일하지</a:t>
            </a:r>
            <a:r>
              <a:rPr dirty="0"/>
              <a:t> </a:t>
            </a:r>
            <a:r>
              <a:rPr dirty="0" err="1"/>
              <a:t>않다</a:t>
            </a:r>
            <a:r>
              <a:rPr dirty="0"/>
              <a:t>. Decoupled </a:t>
            </a:r>
            <a:r>
              <a:rPr dirty="0" err="1"/>
              <a:t>WD는</a:t>
            </a:r>
            <a:r>
              <a:rPr dirty="0"/>
              <a:t> </a:t>
            </a:r>
            <a:r>
              <a:rPr dirty="0" err="1"/>
              <a:t>Adam의</a:t>
            </a:r>
            <a:r>
              <a:rPr dirty="0"/>
              <a:t> </a:t>
            </a:r>
            <a:r>
              <a:rPr dirty="0" err="1"/>
              <a:t>generalization을</a:t>
            </a:r>
            <a:r>
              <a:rPr dirty="0"/>
              <a:t> </a:t>
            </a:r>
            <a:r>
              <a:rPr dirty="0" err="1"/>
              <a:t>개선하며</a:t>
            </a:r>
            <a:r>
              <a:rPr dirty="0"/>
              <a:t> CIFAR-10 residual CNN </a:t>
            </a:r>
            <a:r>
              <a:rPr dirty="0" err="1"/>
              <a:t>실험을</a:t>
            </a:r>
            <a:r>
              <a:rPr dirty="0"/>
              <a:t> </a:t>
            </a:r>
            <a:r>
              <a:rPr dirty="0" err="1"/>
              <a:t>포함한다</a:t>
            </a:r>
            <a:r>
              <a:rPr dirty="0"/>
              <a:t>.</a:t>
            </a:r>
          </a:p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Loshchilov</a:t>
            </a:r>
            <a:r>
              <a:rPr dirty="0"/>
              <a:t> &amp; </a:t>
            </a:r>
            <a:r>
              <a:rPr dirty="0" err="1"/>
              <a:t>Hutter</a:t>
            </a:r>
            <a:r>
              <a:rPr dirty="0"/>
              <a:t>, ICLR 2019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745D5D4-AD0B-4563-9B8D-32991F739561}"/>
              </a:ext>
            </a:extLst>
          </p:cNvPr>
          <p:cNvSpPr>
            <a:spLocks noGrp="1"/>
          </p:cNvSpPr>
          <p:nvPr/>
        </p:nvSpPr>
        <p:spPr>
          <a:xfrm>
            <a:off x="6400800" y="1657350"/>
            <a:ext cx="50958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69D59A-6D35-4CD6-9C5C-28090DDEC953}"/>
              </a:ext>
            </a:extLst>
          </p:cNvPr>
          <p:cNvSpPr>
            <a:spLocks noGrp="1"/>
          </p:cNvSpPr>
          <p:nvPr/>
        </p:nvSpPr>
        <p:spPr>
          <a:xfrm>
            <a:off x="6400800" y="1657350"/>
            <a:ext cx="76200" cy="1428750"/>
          </a:xfrm>
          <a:prstGeom prst="rect">
            <a:avLst/>
          </a:prstGeom>
          <a:solidFill>
            <a:srgbClr val="2E5AAC"/>
          </a:solidFill>
          <a:ln w="9525">
            <a:solidFill>
              <a:srgbClr val="2E5AAC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42DBF0-9EF0-4ED7-9FDC-C4FCAFEA1F0D}"/>
              </a:ext>
            </a:extLst>
          </p:cNvPr>
          <p:cNvSpPr>
            <a:spLocks noGrp="1"/>
          </p:cNvSpPr>
          <p:nvPr/>
        </p:nvSpPr>
        <p:spPr>
          <a:xfrm>
            <a:off x="6591300" y="1790700"/>
            <a:ext cx="4752975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Adam↔SGD on CNNs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C89581-662B-43DF-8CD3-8652EA8394BB}"/>
              </a:ext>
            </a:extLst>
          </p:cNvPr>
          <p:cNvSpPr>
            <a:spLocks noGrp="1"/>
          </p:cNvSpPr>
          <p:nvPr/>
        </p:nvSpPr>
        <p:spPr>
          <a:xfrm>
            <a:off x="6591300" y="2152650"/>
            <a:ext cx="4752975" cy="8191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SWATS는</a:t>
            </a:r>
            <a:r>
              <a:rPr dirty="0"/>
              <a:t> CIFAR-10/100의 </a:t>
            </a:r>
            <a:r>
              <a:rPr dirty="0" err="1"/>
              <a:t>ResNet</a:t>
            </a:r>
            <a:r>
              <a:rPr dirty="0"/>
              <a:t>, </a:t>
            </a:r>
            <a:r>
              <a:rPr dirty="0" err="1"/>
              <a:t>SENet</a:t>
            </a:r>
            <a:r>
              <a:rPr dirty="0"/>
              <a:t>, </a:t>
            </a:r>
            <a:r>
              <a:rPr dirty="0" err="1"/>
              <a:t>DenseNet</a:t>
            </a:r>
            <a:r>
              <a:rPr dirty="0"/>
              <a:t>, </a:t>
            </a:r>
            <a:r>
              <a:rPr dirty="0" err="1"/>
              <a:t>PyramidNet에서</a:t>
            </a:r>
            <a:r>
              <a:rPr dirty="0"/>
              <a:t> Adam </a:t>
            </a:r>
            <a:r>
              <a:rPr dirty="0" err="1"/>
              <a:t>계열과</a:t>
            </a:r>
            <a:r>
              <a:rPr dirty="0"/>
              <a:t> SGD </a:t>
            </a:r>
            <a:r>
              <a:rPr dirty="0" err="1"/>
              <a:t>전환을</a:t>
            </a:r>
            <a:r>
              <a:rPr dirty="0"/>
              <a:t> </a:t>
            </a:r>
            <a:r>
              <a:rPr dirty="0" err="1"/>
              <a:t>비교한다</a:t>
            </a:r>
            <a:r>
              <a:rPr dirty="0"/>
              <a:t>.</a:t>
            </a:r>
          </a:p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Keskar</a:t>
            </a:r>
            <a:r>
              <a:rPr dirty="0"/>
              <a:t> &amp; </a:t>
            </a:r>
            <a:r>
              <a:rPr dirty="0" err="1"/>
              <a:t>Socher</a:t>
            </a:r>
            <a:r>
              <a:rPr dirty="0"/>
              <a:t>, 2017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7E2D69F-7844-434B-836F-9609A3D4189D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50958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A09CC3-13D2-4CB5-B4A7-DAFE9DBC682A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76200" cy="1428750"/>
          </a:xfrm>
          <a:prstGeom prst="rect">
            <a:avLst/>
          </a:prstGeom>
          <a:solidFill>
            <a:srgbClr val="6E5AA8"/>
          </a:solidFill>
          <a:ln w="9525">
            <a:solidFill>
              <a:srgbClr val="6E5AA8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F32130-4511-4594-899E-20A232BDAA29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4752975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Adaptive methods find different solutions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D3538D-9EA3-4B92-95CD-52C238FBCA7C}"/>
              </a:ext>
            </a:extLst>
          </p:cNvPr>
          <p:cNvSpPr>
            <a:spLocks noGrp="1"/>
          </p:cNvSpPr>
          <p:nvPr/>
        </p:nvSpPr>
        <p:spPr>
          <a:xfrm>
            <a:off x="876300" y="4000500"/>
            <a:ext cx="4752975" cy="8191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Adaptive </a:t>
            </a:r>
            <a:r>
              <a:rPr dirty="0" err="1"/>
              <a:t>methods는</a:t>
            </a:r>
            <a:r>
              <a:rPr dirty="0"/>
              <a:t> </a:t>
            </a:r>
            <a:r>
              <a:rPr dirty="0" err="1"/>
              <a:t>SGD와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해를</a:t>
            </a:r>
            <a:r>
              <a:rPr dirty="0"/>
              <a:t> </a:t>
            </a:r>
            <a:r>
              <a:rPr dirty="0" err="1"/>
              <a:t>찾고</a:t>
            </a:r>
            <a:r>
              <a:rPr dirty="0"/>
              <a:t>, 더 </a:t>
            </a:r>
            <a:r>
              <a:rPr dirty="0" err="1"/>
              <a:t>좋은</a:t>
            </a:r>
            <a:r>
              <a:rPr dirty="0"/>
              <a:t> training </a:t>
            </a:r>
            <a:r>
              <a:rPr dirty="0" err="1"/>
              <a:t>performance에도</a:t>
            </a:r>
            <a:r>
              <a:rPr dirty="0"/>
              <a:t> </a:t>
            </a:r>
            <a:r>
              <a:rPr dirty="0" err="1"/>
              <a:t>generalization이</a:t>
            </a:r>
            <a:r>
              <a:rPr dirty="0"/>
              <a:t> </a:t>
            </a:r>
            <a:r>
              <a:rPr dirty="0" err="1"/>
              <a:t>나쁠</a:t>
            </a:r>
            <a:r>
              <a:rPr dirty="0"/>
              <a:t> 수 </a:t>
            </a:r>
            <a:r>
              <a:rPr dirty="0" err="1"/>
              <a:t>있다는</a:t>
            </a:r>
            <a:r>
              <a:rPr dirty="0"/>
              <a:t> </a:t>
            </a:r>
            <a:r>
              <a:rPr dirty="0" err="1"/>
              <a:t>배경을</a:t>
            </a:r>
            <a:r>
              <a:rPr dirty="0"/>
              <a:t> </a:t>
            </a:r>
            <a:r>
              <a:rPr dirty="0" err="1"/>
              <a:t>제공한다</a:t>
            </a:r>
            <a:r>
              <a:rPr dirty="0"/>
              <a:t>.</a:t>
            </a:r>
          </a:p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Wilson et al., </a:t>
            </a:r>
            <a:r>
              <a:rPr dirty="0" err="1"/>
              <a:t>NeurIPS</a:t>
            </a:r>
            <a:r>
              <a:rPr dirty="0"/>
              <a:t> 2017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8FB1751-2A98-48CF-A8CF-4A576B0F14BE}"/>
              </a:ext>
            </a:extLst>
          </p:cNvPr>
          <p:cNvSpPr>
            <a:spLocks noGrp="1"/>
          </p:cNvSpPr>
          <p:nvPr/>
        </p:nvSpPr>
        <p:spPr>
          <a:xfrm>
            <a:off x="6400800" y="3505200"/>
            <a:ext cx="50958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F711D3C-8048-4078-8F41-3C5A6F7DECFD}"/>
              </a:ext>
            </a:extLst>
          </p:cNvPr>
          <p:cNvSpPr>
            <a:spLocks noGrp="1"/>
          </p:cNvSpPr>
          <p:nvPr/>
        </p:nvSpPr>
        <p:spPr>
          <a:xfrm>
            <a:off x="6400800" y="3505200"/>
            <a:ext cx="76200" cy="1428750"/>
          </a:xfrm>
          <a:prstGeom prst="rect">
            <a:avLst/>
          </a:prstGeom>
          <a:solidFill>
            <a:srgbClr val="C98512"/>
          </a:solidFill>
          <a:ln w="9525">
            <a:solidFill>
              <a:srgbClr val="C98512"/>
            </a:solidFill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0E17662-31DC-47D4-B44F-A7973A9D2D87}"/>
              </a:ext>
            </a:extLst>
          </p:cNvPr>
          <p:cNvSpPr>
            <a:spLocks noGrp="1"/>
          </p:cNvSpPr>
          <p:nvPr/>
        </p:nvSpPr>
        <p:spPr>
          <a:xfrm>
            <a:off x="6591300" y="3638550"/>
            <a:ext cx="4752975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Optimizer choice matters for NC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3B73F8-761C-4F0C-9563-62569762E489}"/>
              </a:ext>
            </a:extLst>
          </p:cNvPr>
          <p:cNvSpPr>
            <a:spLocks noGrp="1"/>
          </p:cNvSpPr>
          <p:nvPr/>
        </p:nvSpPr>
        <p:spPr>
          <a:xfrm>
            <a:off x="6591300" y="4000500"/>
            <a:ext cx="4752975" cy="8191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Optimizer와 coupled/decoupled WD가 NC emergence 및 representation geometry에 영향을 준다는 근거로 사용한다.</a:t>
            </a:r>
          </a:p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/>
          </a:p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Zhao et al., ICLR 2026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7CC590E-9C18-4E1B-9D93-3C1803BA333E}"/>
              </a:ext>
            </a:extLst>
          </p:cNvPr>
          <p:cNvSpPr>
            <a:spLocks noGrp="1"/>
          </p:cNvSpPr>
          <p:nvPr/>
        </p:nvSpPr>
        <p:spPr>
          <a:xfrm>
            <a:off x="1162050" y="5353050"/>
            <a:ext cx="9867900" cy="476250"/>
          </a:xfrm>
          <a:prstGeom prst="roundRect">
            <a:avLst>
              <a:gd name="adj" fmla="val 16000"/>
            </a:avLst>
          </a:prstGeom>
          <a:solidFill>
            <a:srgbClr val="FFF3F1"/>
          </a:solidFill>
          <a:ln w="9525">
            <a:solidFill>
              <a:srgbClr val="E7B8B5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2BA67D7-6BE5-4000-9074-C17DC2CF6B8A}"/>
              </a:ext>
            </a:extLst>
          </p:cNvPr>
          <p:cNvSpPr>
            <a:spLocks noGrp="1"/>
          </p:cNvSpPr>
          <p:nvPr/>
        </p:nvSpPr>
        <p:spPr>
          <a:xfrm>
            <a:off x="1390650" y="5448300"/>
            <a:ext cx="9429750" cy="285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80172" lnSpcReduction="10000"/>
          </a:bodyPr>
          <a:lstStyle/>
          <a:p>
            <a:pPr algn="ctr">
              <a:defRPr sz="1200" b="1">
                <a:solidFill>
                  <a:srgbClr val="B94A4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연구공백 </a:t>
            </a:r>
            <a:r>
              <a:rPr dirty="0"/>
              <a:t>: Optimizer/NC </a:t>
            </a:r>
            <a:r>
              <a:rPr dirty="0" err="1"/>
              <a:t>논문만으로</a:t>
            </a:r>
            <a:r>
              <a:rPr dirty="0"/>
              <a:t> </a:t>
            </a:r>
            <a:r>
              <a:rPr dirty="0" err="1"/>
              <a:t>Mahalanobis</a:t>
            </a:r>
            <a:r>
              <a:rPr dirty="0"/>
              <a:t>, DDU/GMM, </a:t>
            </a:r>
            <a:r>
              <a:rPr dirty="0" err="1"/>
              <a:t>kNN</a:t>
            </a:r>
            <a:r>
              <a:rPr dirty="0"/>
              <a:t> </a:t>
            </a:r>
            <a:r>
              <a:rPr dirty="0" err="1"/>
              <a:t>실패를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주장하지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 그 </a:t>
            </a:r>
            <a:r>
              <a:rPr dirty="0" err="1"/>
              <a:t>연결은</a:t>
            </a:r>
            <a:r>
              <a:rPr dirty="0"/>
              <a:t> </a:t>
            </a:r>
            <a:r>
              <a:rPr dirty="0" err="1"/>
              <a:t>우리</a:t>
            </a:r>
            <a:r>
              <a:rPr dirty="0"/>
              <a:t> controlled </a:t>
            </a:r>
            <a:r>
              <a:rPr dirty="0" err="1"/>
              <a:t>experiments가</a:t>
            </a:r>
            <a:r>
              <a:rPr dirty="0"/>
              <a:t> </a:t>
            </a:r>
            <a:r>
              <a:rPr dirty="0" err="1"/>
              <a:t>만들어야</a:t>
            </a:r>
            <a:r>
              <a:rPr dirty="0"/>
              <a:t> </a:t>
            </a:r>
            <a:r>
              <a:rPr dirty="0" err="1"/>
              <a:t>한다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499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E2E4A056-DEAA-44A2-A0BC-DCDDF317F2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F6F7F9"/>
            </a:solidFill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F74E8D-77A2-462C-9F9A-6BF1E41F70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213D"/>
          </a:solidFill>
          <a:ln w="0">
            <a:solidFill>
              <a:srgbClr val="F6F7F9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0099DB-38EB-453D-A013-EE6E7495F939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666750" cy="400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r">
              <a:defRPr sz="21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BC5B41-EE5C-480D-B85C-2AF46D526F3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85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HYPERPARAMETER FAIRNESS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A1432D-A46E-4336-88F0-3F05839BEBE5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781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공정비교는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numerical </a:t>
            </a:r>
            <a:r>
              <a:rPr dirty="0" err="1"/>
              <a:t>LR이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confound </a:t>
            </a:r>
            <a:r>
              <a:rPr dirty="0" err="1"/>
              <a:t>budget이다</a:t>
            </a:r>
            <a:r>
              <a:rPr dirty="0"/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3216F3-7BD3-488D-A71C-2A46917FB81A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2476500" cy="2095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825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MATCHED PROTOCOL: FIXED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45EE8E-022A-44CE-8EB0-D4B44DDB0752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10572750" cy="285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dataset · architecture · augmentation · epoch · schedule · seed · total WD · WD policy · OOD set · detector set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EF79D1-4FBB-49A6-87D1-2F17797C66D3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476500" cy="2095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825" b="1">
                <a:solidFill>
                  <a:srgbClr val="C98512"/>
                </a:solidFill>
                <a:latin typeface="Malgun Gothic"/>
                <a:ea typeface="Malgun Gothic"/>
                <a:cs typeface="Malgun Gothic"/>
              </a:defRPr>
            </a:pPr>
            <a:r>
              <a:t>CHANGED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253197-3425-44D8-AF4A-0B8F263404B8}"/>
              </a:ext>
            </a:extLst>
          </p:cNvPr>
          <p:cNvSpPr>
            <a:spLocks noGrp="1"/>
          </p:cNvSpPr>
          <p:nvPr/>
        </p:nvSpPr>
        <p:spPr>
          <a:xfrm>
            <a:off x="742950" y="2514600"/>
            <a:ext cx="4572000" cy="2667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2593"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intended optimizer update semantics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C49DE0C-6B14-4FC7-8278-439E622D7EF9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061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35CC74-E7A4-42D2-AB39-12545B1BBA50}"/>
              </a:ext>
            </a:extLst>
          </p:cNvPr>
          <p:cNvSpPr>
            <a:spLocks noGrp="1"/>
          </p:cNvSpPr>
          <p:nvPr/>
        </p:nvSpPr>
        <p:spPr>
          <a:xfrm>
            <a:off x="895350" y="3238500"/>
            <a:ext cx="247650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88889"/>
          </a:bodyPr>
          <a:lstStyle/>
          <a:p>
            <a:pPr algn="l">
              <a:defRPr sz="1125" b="1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항목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EB6E58-51A5-44E2-8A9F-D504E28B9A21}"/>
              </a:ext>
            </a:extLst>
          </p:cNvPr>
          <p:cNvSpPr>
            <a:spLocks noGrp="1"/>
          </p:cNvSpPr>
          <p:nvPr/>
        </p:nvSpPr>
        <p:spPr>
          <a:xfrm>
            <a:off x="3829050" y="3238500"/>
            <a:ext cx="276225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88889"/>
          </a:bodyPr>
          <a:lstStyle/>
          <a:p>
            <a:pPr algn="l">
              <a:defRPr sz="1125" b="1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SGD anchor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C31F53-AECD-4FAE-A6D5-8DA7C9291ED8}"/>
              </a:ext>
            </a:extLst>
          </p:cNvPr>
          <p:cNvSpPr>
            <a:spLocks noGrp="1"/>
          </p:cNvSpPr>
          <p:nvPr/>
        </p:nvSpPr>
        <p:spPr>
          <a:xfrm>
            <a:off x="7143750" y="3238500"/>
            <a:ext cx="352425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88889"/>
          </a:bodyPr>
          <a:lstStyle/>
          <a:p>
            <a:pPr algn="l">
              <a:defRPr sz="1125" b="1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Adam / AdamW matched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5FB8CBD-F1C0-4CB2-8F73-BF1B3EC7C6B8}"/>
              </a:ext>
            </a:extLst>
          </p:cNvPr>
          <p:cNvSpPr>
            <a:spLocks noGrp="1"/>
          </p:cNvSpPr>
          <p:nvPr/>
        </p:nvSpPr>
        <p:spPr>
          <a:xfrm>
            <a:off x="838200" y="3543300"/>
            <a:ext cx="10515600" cy="9525"/>
          </a:xfrm>
          <a:prstGeom prst="rect">
            <a:avLst/>
          </a:prstGeom>
          <a:solidFill>
            <a:srgbClr val="E8ECF3"/>
          </a:solidFill>
          <a:ln w="9525">
            <a:solidFill>
              <a:srgbClr val="E8ECF3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121456-8A55-4FAA-B888-0BDB4823BA63}"/>
              </a:ext>
            </a:extLst>
          </p:cNvPr>
          <p:cNvSpPr>
            <a:spLocks noGrp="1"/>
          </p:cNvSpPr>
          <p:nvPr/>
        </p:nvSpPr>
        <p:spPr>
          <a:xfrm>
            <a:off x="895350" y="3629025"/>
            <a:ext cx="247650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0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model / dataset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A98640-455E-4F55-8D31-349AD334AB6E}"/>
              </a:ext>
            </a:extLst>
          </p:cNvPr>
          <p:cNvSpPr>
            <a:spLocks noGrp="1"/>
          </p:cNvSpPr>
          <p:nvPr/>
        </p:nvSpPr>
        <p:spPr>
          <a:xfrm>
            <a:off x="3829050" y="3629025"/>
            <a:ext cx="295275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WRN-28-10 dropout 0.3, CIFAR-10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C07E76C-12A7-4A97-B1DC-490991A2050B}"/>
              </a:ext>
            </a:extLst>
          </p:cNvPr>
          <p:cNvSpPr>
            <a:spLocks noGrp="1"/>
          </p:cNvSpPr>
          <p:nvPr/>
        </p:nvSpPr>
        <p:spPr>
          <a:xfrm>
            <a:off x="7143750" y="3629025"/>
            <a:ext cx="371475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same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0DA22C7-E8B0-46C1-A099-71403B0F34A8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0515600" cy="9525"/>
          </a:xfrm>
          <a:prstGeom prst="rect">
            <a:avLst/>
          </a:prstGeom>
          <a:solidFill>
            <a:srgbClr val="E8ECF3"/>
          </a:solidFill>
          <a:ln w="9525">
            <a:solidFill>
              <a:srgbClr val="E8ECF3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0C240F6-0E0D-4B34-AC9E-AD4FF357A302}"/>
              </a:ext>
            </a:extLst>
          </p:cNvPr>
          <p:cNvSpPr>
            <a:spLocks noGrp="1"/>
          </p:cNvSpPr>
          <p:nvPr/>
        </p:nvSpPr>
        <p:spPr>
          <a:xfrm>
            <a:off x="895350" y="4029075"/>
            <a:ext cx="247650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0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training budget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9CD796-A047-489D-B168-99454B723E62}"/>
              </a:ext>
            </a:extLst>
          </p:cNvPr>
          <p:cNvSpPr>
            <a:spLocks noGrp="1"/>
          </p:cNvSpPr>
          <p:nvPr/>
        </p:nvSpPr>
        <p:spPr>
          <a:xfrm>
            <a:off x="3829050" y="4029075"/>
            <a:ext cx="295275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350 epochs, MultiStep [150,250], batch 128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15F7F7-936C-4C88-877B-3916E72D0BE0}"/>
              </a:ext>
            </a:extLst>
          </p:cNvPr>
          <p:cNvSpPr>
            <a:spLocks noGrp="1"/>
          </p:cNvSpPr>
          <p:nvPr/>
        </p:nvSpPr>
        <p:spPr>
          <a:xfrm>
            <a:off x="7143750" y="4029075"/>
            <a:ext cx="371475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same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D62511B-64A6-4CBA-A458-B0F95A24D505}"/>
              </a:ext>
            </a:extLst>
          </p:cNvPr>
          <p:cNvSpPr>
            <a:spLocks noGrp="1"/>
          </p:cNvSpPr>
          <p:nvPr/>
        </p:nvSpPr>
        <p:spPr>
          <a:xfrm>
            <a:off x="838200" y="4343400"/>
            <a:ext cx="10515600" cy="9525"/>
          </a:xfrm>
          <a:prstGeom prst="rect">
            <a:avLst/>
          </a:prstGeom>
          <a:solidFill>
            <a:srgbClr val="E8ECF3"/>
          </a:solidFill>
          <a:ln w="9525">
            <a:solidFill>
              <a:srgbClr val="E8ECF3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F856F20-F957-4CD3-A67F-0A81C0C3AC61}"/>
              </a:ext>
            </a:extLst>
          </p:cNvPr>
          <p:cNvSpPr>
            <a:spLocks noGrp="1"/>
          </p:cNvSpPr>
          <p:nvPr/>
        </p:nvSpPr>
        <p:spPr>
          <a:xfrm>
            <a:off x="895350" y="4429125"/>
            <a:ext cx="247650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0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optimizer LR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478AF9D-5B2D-431F-8F22-D63C51F52DA5}"/>
              </a:ext>
            </a:extLst>
          </p:cNvPr>
          <p:cNvSpPr>
            <a:spLocks noGrp="1"/>
          </p:cNvSpPr>
          <p:nvPr/>
        </p:nvSpPr>
        <p:spPr>
          <a:xfrm>
            <a:off x="3829050" y="4429125"/>
            <a:ext cx="295275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0.1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3907A68-3E55-4911-A692-A8C6AB3AE302}"/>
              </a:ext>
            </a:extLst>
          </p:cNvPr>
          <p:cNvSpPr>
            <a:spLocks noGrp="1"/>
          </p:cNvSpPr>
          <p:nvPr/>
        </p:nvSpPr>
        <p:spPr>
          <a:xfrm>
            <a:off x="7143750" y="4429125"/>
            <a:ext cx="371475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5e-3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2754E5E-01F6-41FA-9F51-8B7A5C49D332}"/>
              </a:ext>
            </a:extLst>
          </p:cNvPr>
          <p:cNvSpPr>
            <a:spLocks noGrp="1"/>
          </p:cNvSpPr>
          <p:nvPr/>
        </p:nvSpPr>
        <p:spPr>
          <a:xfrm>
            <a:off x="838200" y="4743450"/>
            <a:ext cx="10515600" cy="9525"/>
          </a:xfrm>
          <a:prstGeom prst="rect">
            <a:avLst/>
          </a:prstGeom>
          <a:solidFill>
            <a:srgbClr val="E8ECF3"/>
          </a:solidFill>
          <a:ln w="9525">
            <a:solidFill>
              <a:srgbClr val="E8ECF3"/>
            </a:solidFill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D5F0680-40B0-4360-8CAB-BFB17446E082}"/>
              </a:ext>
            </a:extLst>
          </p:cNvPr>
          <p:cNvSpPr>
            <a:spLocks noGrp="1"/>
          </p:cNvSpPr>
          <p:nvPr/>
        </p:nvSpPr>
        <p:spPr>
          <a:xfrm>
            <a:off x="895350" y="4829175"/>
            <a:ext cx="247650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0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WD policy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8EE467C-D802-416F-8205-0F67D5D21F24}"/>
              </a:ext>
            </a:extLst>
          </p:cNvPr>
          <p:cNvSpPr>
            <a:spLocks noGrp="1"/>
          </p:cNvSpPr>
          <p:nvPr/>
        </p:nvSpPr>
        <p:spPr>
          <a:xfrm>
            <a:off x="3829050" y="4829175"/>
            <a:ext cx="295275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5e-4, weights_only_no_bias_norm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D3070A8-727F-4E0B-9C39-04ABEFAF6B18}"/>
              </a:ext>
            </a:extLst>
          </p:cNvPr>
          <p:cNvSpPr>
            <a:spLocks noGrp="1"/>
          </p:cNvSpPr>
          <p:nvPr/>
        </p:nvSpPr>
        <p:spPr>
          <a:xfrm>
            <a:off x="7143750" y="4829175"/>
            <a:ext cx="371475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5e-4 total WD, same policy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0107866-0AA4-4A03-AAF4-335BA9BE3383}"/>
              </a:ext>
            </a:extLst>
          </p:cNvPr>
          <p:cNvSpPr>
            <a:spLocks noGrp="1"/>
          </p:cNvSpPr>
          <p:nvPr/>
        </p:nvSpPr>
        <p:spPr>
          <a:xfrm>
            <a:off x="1552575" y="5588839"/>
            <a:ext cx="8953499" cy="419100"/>
          </a:xfrm>
          <a:prstGeom prst="roundRect">
            <a:avLst>
              <a:gd name="adj" fmla="val 18182"/>
            </a:avLst>
          </a:prstGeom>
          <a:solidFill>
            <a:srgbClr val="E9F4F4"/>
          </a:solidFill>
          <a:ln w="9525">
            <a:solidFill>
              <a:srgbClr val="CDE5E5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A9DDCB2-6BE2-4142-B77E-3BF42BE71F24}"/>
              </a:ext>
            </a:extLst>
          </p:cNvPr>
          <p:cNvSpPr>
            <a:spLocks noGrp="1"/>
          </p:cNvSpPr>
          <p:nvPr/>
        </p:nvSpPr>
        <p:spPr>
          <a:xfrm>
            <a:off x="1826284" y="5648325"/>
            <a:ext cx="8403566" cy="485775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7915"/>
          </a:bodyPr>
          <a:lstStyle/>
          <a:p>
            <a:pPr algn="ctr">
              <a:def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Same experimental contract except intended optimizer semantics; identical numerical LR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165942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F5D065-4B9B-4366-965E-A4314505B9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F6F7F9"/>
            </a:solidFill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57ECDD-A1B3-4CE6-AB3C-FA29A721D7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213D"/>
          </a:solidFill>
          <a:ln w="0">
            <a:solidFill>
              <a:srgbClr val="F6F7F9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74AC57-ABE1-4767-A02F-0580810A9FC0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666750" cy="400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r">
              <a:defRPr sz="21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CD9B89-BD7A-4A44-A197-C93ACAB159A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85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ID-TUNED PROTOCOL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83966B-684B-4D95-9FC3-C33FDE988B60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781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6354"/>
          </a:bodyPr>
          <a:lstStyle/>
          <a:p>
            <a:pPr algn="l">
              <a:defRPr sz="24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ID-tuned </a:t>
            </a:r>
            <a:r>
              <a:rPr dirty="0" err="1"/>
              <a:t>layer는</a:t>
            </a:r>
            <a:r>
              <a:rPr dirty="0"/>
              <a:t> </a:t>
            </a:r>
            <a:r>
              <a:rPr dirty="0" err="1"/>
              <a:t>공정성</a:t>
            </a:r>
            <a:r>
              <a:rPr dirty="0"/>
              <a:t> </a:t>
            </a:r>
            <a:r>
              <a:rPr dirty="0" err="1"/>
              <a:t>반박을</a:t>
            </a:r>
            <a:r>
              <a:rPr dirty="0"/>
              <a:t> </a:t>
            </a:r>
            <a:r>
              <a:rPr dirty="0" err="1"/>
              <a:t>막기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protocol이며</a:t>
            </a:r>
            <a:r>
              <a:rPr dirty="0"/>
              <a:t> </a:t>
            </a:r>
            <a:br>
              <a:rPr lang="en-US" dirty="0"/>
            </a:br>
            <a:r>
              <a:rPr dirty="0"/>
              <a:t>matched </a:t>
            </a:r>
            <a:r>
              <a:rPr dirty="0" err="1"/>
              <a:t>result와</a:t>
            </a:r>
            <a:r>
              <a:rPr dirty="0"/>
              <a:t> </a:t>
            </a:r>
            <a:r>
              <a:rPr dirty="0" err="1"/>
              <a:t>섞지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0F6E2C-F8FE-49C2-AC8E-115DCA797969}"/>
              </a:ext>
            </a:extLst>
          </p:cNvPr>
          <p:cNvSpPr>
            <a:spLocks noGrp="1"/>
          </p:cNvSpPr>
          <p:nvPr/>
        </p:nvSpPr>
        <p:spPr>
          <a:xfrm>
            <a:off x="819150" y="1752600"/>
            <a:ext cx="4762500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CD649C-0971-42FA-96B3-8024CABDA00F}"/>
              </a:ext>
            </a:extLst>
          </p:cNvPr>
          <p:cNvSpPr>
            <a:spLocks noGrp="1"/>
          </p:cNvSpPr>
          <p:nvPr/>
        </p:nvSpPr>
        <p:spPr>
          <a:xfrm>
            <a:off x="819150" y="1752600"/>
            <a:ext cx="76200" cy="2038350"/>
          </a:xfrm>
          <a:prstGeom prst="rect">
            <a:avLst/>
          </a:prstGeom>
          <a:solidFill>
            <a:srgbClr val="138A8A"/>
          </a:solidFill>
          <a:ln w="9525">
            <a:solidFill>
              <a:srgbClr val="138A8A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CD5235-4726-4BC1-85C5-88F5E74F94E6}"/>
              </a:ext>
            </a:extLst>
          </p:cNvPr>
          <p:cNvSpPr>
            <a:spLocks noGrp="1"/>
          </p:cNvSpPr>
          <p:nvPr/>
        </p:nvSpPr>
        <p:spPr>
          <a:xfrm>
            <a:off x="1009650" y="1885950"/>
            <a:ext cx="441960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Layer 1. Matched protocol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AB735F-7036-4F73-AB8F-426F7DB34297}"/>
              </a:ext>
            </a:extLst>
          </p:cNvPr>
          <p:cNvSpPr>
            <a:spLocks noGrp="1"/>
          </p:cNvSpPr>
          <p:nvPr/>
        </p:nvSpPr>
        <p:spPr>
          <a:xfrm>
            <a:off x="1009650" y="2247900"/>
            <a:ext cx="4419600" cy="1428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27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Purpose: optimizer semantics를 isolate.</a:t>
            </a:r>
          </a:p>
          <a:p>
            <a:pPr algn="l">
              <a:defRPr sz="127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/>
          </a:p>
          <a:p>
            <a:pPr algn="l">
              <a:defRPr sz="127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SGD는 canonical WRN anchor이며 globally tuned claim이 아니다.</a:t>
            </a:r>
          </a:p>
          <a:p>
            <a:pPr algn="l">
              <a:defRPr sz="127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/>
          </a:p>
          <a:p>
            <a:pPr algn="l">
              <a:defRPr sz="127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total WD fixed at 5e-4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9FA489A-9073-477E-80A8-AEF86352EC28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4762500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BC677B-F2D9-40A8-9115-CCF58F6AF203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76200" cy="2038350"/>
          </a:xfrm>
          <a:prstGeom prst="rect">
            <a:avLst/>
          </a:prstGeom>
          <a:solidFill>
            <a:srgbClr val="2E5AAC"/>
          </a:solidFill>
          <a:ln w="9525">
            <a:solidFill>
              <a:srgbClr val="2E5AAC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2C2448-D3E1-44D0-BE29-33AC115125D0}"/>
              </a:ext>
            </a:extLst>
          </p:cNvPr>
          <p:cNvSpPr>
            <a:spLocks noGrp="1"/>
          </p:cNvSpPr>
          <p:nvPr/>
        </p:nvSpPr>
        <p:spPr>
          <a:xfrm>
            <a:off x="6819900" y="1885950"/>
            <a:ext cx="441960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Layer 2. ID-tuned protocol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392D12-EA0E-4855-9F28-AF85DEB3FC45}"/>
              </a:ext>
            </a:extLst>
          </p:cNvPr>
          <p:cNvSpPr>
            <a:spLocks noGrp="1"/>
          </p:cNvSpPr>
          <p:nvPr/>
        </p:nvSpPr>
        <p:spPr>
          <a:xfrm>
            <a:off x="6819900" y="2247900"/>
            <a:ext cx="4419600" cy="1428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27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Purpose: 각 </a:t>
            </a:r>
            <a:r>
              <a:rPr dirty="0" err="1"/>
              <a:t>optimizer가</a:t>
            </a:r>
            <a:r>
              <a:rPr dirty="0"/>
              <a:t> reasonable ID-validation-selected </a:t>
            </a:r>
            <a:r>
              <a:rPr dirty="0" err="1"/>
              <a:t>hyperparameter에서도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pattern을</a:t>
            </a:r>
            <a:r>
              <a:rPr dirty="0"/>
              <a:t> </a:t>
            </a:r>
            <a:r>
              <a:rPr dirty="0" err="1"/>
              <a:t>보이는지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.</a:t>
            </a:r>
          </a:p>
          <a:p>
            <a:pPr algn="l">
              <a:defRPr sz="127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  <a:p>
            <a:pPr algn="l">
              <a:defRPr sz="127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SGD도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protocol </a:t>
            </a:r>
            <a:r>
              <a:rPr dirty="0" err="1"/>
              <a:t>layer에서</a:t>
            </a:r>
            <a:r>
              <a:rPr dirty="0"/>
              <a:t> </a:t>
            </a:r>
            <a:r>
              <a:rPr dirty="0" err="1"/>
              <a:t>tune한다</a:t>
            </a:r>
            <a:r>
              <a:rPr dirty="0"/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2D9B7C0-0727-48DB-9E73-E6157D4105E3}"/>
              </a:ext>
            </a:extLst>
          </p:cNvPr>
          <p:cNvSpPr>
            <a:spLocks noGrp="1"/>
          </p:cNvSpPr>
          <p:nvPr/>
        </p:nvSpPr>
        <p:spPr>
          <a:xfrm>
            <a:off x="1390650" y="4210050"/>
            <a:ext cx="939165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4BF908B-6ACF-4380-9183-9E1BF667C51A}"/>
              </a:ext>
            </a:extLst>
          </p:cNvPr>
          <p:cNvSpPr>
            <a:spLocks noGrp="1"/>
          </p:cNvSpPr>
          <p:nvPr/>
        </p:nvSpPr>
        <p:spPr>
          <a:xfrm>
            <a:off x="1676400" y="4362450"/>
            <a:ext cx="1714500" cy="2476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Selector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97DD804-6505-439E-A4FF-ACC6D30A9673}"/>
              </a:ext>
            </a:extLst>
          </p:cNvPr>
          <p:cNvSpPr>
            <a:spLocks noGrp="1"/>
          </p:cNvSpPr>
          <p:nvPr/>
        </p:nvSpPr>
        <p:spPr>
          <a:xfrm>
            <a:off x="1676400" y="4724400"/>
            <a:ext cx="8667750" cy="285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88267"/>
          </a:bodyPr>
          <a:lstStyle/>
          <a:p>
            <a:pPr algn="l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primary: ID validation accuracy  →  tie-break 1: lower validation NLL  →  tie-break 2: lower validation ECE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9D73F25-2F55-47C2-AC66-A8F3292F5ECA}"/>
              </a:ext>
            </a:extLst>
          </p:cNvPr>
          <p:cNvSpPr>
            <a:spLocks noGrp="1"/>
          </p:cNvSpPr>
          <p:nvPr/>
        </p:nvSpPr>
        <p:spPr>
          <a:xfrm>
            <a:off x="2152650" y="5467350"/>
            <a:ext cx="7867650" cy="419100"/>
          </a:xfrm>
          <a:prstGeom prst="roundRect">
            <a:avLst>
              <a:gd name="adj" fmla="val 18182"/>
            </a:avLst>
          </a:prstGeom>
          <a:solidFill>
            <a:srgbClr val="FFF3F1"/>
          </a:solidFill>
          <a:ln w="9525">
            <a:solidFill>
              <a:srgbClr val="E7B8B5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5DC7DE6-27F8-452C-A2C1-C20D03639A3D}"/>
              </a:ext>
            </a:extLst>
          </p:cNvPr>
          <p:cNvSpPr>
            <a:spLocks noGrp="1"/>
          </p:cNvSpPr>
          <p:nvPr/>
        </p:nvSpPr>
        <p:spPr>
          <a:xfrm>
            <a:off x="2362200" y="5562600"/>
            <a:ext cx="744855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0833" lnSpcReduction="10000"/>
          </a:bodyPr>
          <a:lstStyle/>
          <a:p>
            <a:pPr algn="ctr">
              <a:defRPr sz="1200" b="1">
                <a:solidFill>
                  <a:srgbClr val="B94A48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 OOD AUROC / AUPR / FPR95를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optimizer나</a:t>
            </a:r>
            <a:r>
              <a:rPr dirty="0"/>
              <a:t> detector </a:t>
            </a:r>
            <a:r>
              <a:rPr dirty="0" err="1"/>
              <a:t>hyperparameter를</a:t>
            </a:r>
            <a:r>
              <a:rPr dirty="0"/>
              <a:t> </a:t>
            </a:r>
            <a:r>
              <a:rPr dirty="0" err="1"/>
              <a:t>고르지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50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CB20DCB1-D747-4B22-A6AF-9CC4D8CA44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F6F7F9"/>
            </a:solidFill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1ADDEA-DD39-4E58-960E-3D048BB448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213D"/>
          </a:solidFill>
          <a:ln w="0">
            <a:solidFill>
              <a:srgbClr val="F6F7F9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472D66-D817-4CA6-A81B-D06869806C6B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666750" cy="400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r">
              <a:defRPr sz="21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4A6C5C-A18A-4888-AC3B-5EBC612C301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85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METRICS AND LAYERS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C4F624-1E3B-4C0C-B37D-46834C74F07C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781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6354"/>
          </a:bodyPr>
          <a:lstStyle/>
          <a:p>
            <a:pPr algn="l">
              <a:defRPr sz="24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checkpoint에서</a:t>
            </a:r>
            <a:r>
              <a:rPr dirty="0"/>
              <a:t> shared </a:t>
            </a:r>
            <a:r>
              <a:rPr dirty="0" err="1"/>
              <a:t>cache를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, </a:t>
            </a:r>
            <a:br>
              <a:rPr lang="en-US" dirty="0"/>
            </a:br>
            <a:r>
              <a:rPr dirty="0"/>
              <a:t>detector </a:t>
            </a:r>
            <a:r>
              <a:rPr dirty="0" err="1"/>
              <a:t>family별로</a:t>
            </a:r>
            <a:r>
              <a:rPr dirty="0"/>
              <a:t> </a:t>
            </a:r>
            <a:r>
              <a:rPr dirty="0" err="1"/>
              <a:t>읽는</a:t>
            </a:r>
            <a:r>
              <a:rPr dirty="0"/>
              <a:t> representation </a:t>
            </a:r>
            <a:r>
              <a:rPr dirty="0" err="1"/>
              <a:t>channel을</a:t>
            </a:r>
            <a:r>
              <a:rPr dirty="0"/>
              <a:t> </a:t>
            </a:r>
            <a:r>
              <a:rPr dirty="0" err="1"/>
              <a:t>분리한다</a:t>
            </a:r>
            <a:r>
              <a:rPr dirty="0"/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108A060-34F7-4C4A-AEAF-B304E55B6365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10439400" cy="742950"/>
          </a:xfrm>
          <a:prstGeom prst="roundRect">
            <a:avLst>
              <a:gd name="adj" fmla="val 10256"/>
            </a:avLst>
          </a:prstGeom>
          <a:solidFill>
            <a:srgbClr val="E9F4F4"/>
          </a:solidFill>
          <a:ln w="9525">
            <a:solidFill>
              <a:srgbClr val="CDE5E5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E524A9-5F18-4505-9D75-C8B3F820FBF6}"/>
              </a:ext>
            </a:extLst>
          </p:cNvPr>
          <p:cNvSpPr>
            <a:spLocks noGrp="1"/>
          </p:cNvSpPr>
          <p:nvPr/>
        </p:nvSpPr>
        <p:spPr>
          <a:xfrm>
            <a:off x="1104900" y="1847850"/>
            <a:ext cx="9982200" cy="3619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t>checkpoint → shared cache → logits / penultimate feature f / classifier weight W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F725739-F153-4C7D-A8AF-63EFCF76FED1}"/>
              </a:ext>
            </a:extLst>
          </p:cNvPr>
          <p:cNvSpPr>
            <a:spLocks noGrp="1"/>
          </p:cNvSpPr>
          <p:nvPr/>
        </p:nvSpPr>
        <p:spPr>
          <a:xfrm>
            <a:off x="876300" y="2868283"/>
            <a:ext cx="2381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1B08DF-8FB3-41A3-87E1-D421277198E0}"/>
              </a:ext>
            </a:extLst>
          </p:cNvPr>
          <p:cNvSpPr>
            <a:spLocks noGrp="1"/>
          </p:cNvSpPr>
          <p:nvPr/>
        </p:nvSpPr>
        <p:spPr>
          <a:xfrm>
            <a:off x="876300" y="2868283"/>
            <a:ext cx="76200" cy="1619250"/>
          </a:xfrm>
          <a:prstGeom prst="rect">
            <a:avLst/>
          </a:prstGeom>
          <a:solidFill>
            <a:srgbClr val="2E5AAC"/>
          </a:solidFill>
          <a:ln w="9525">
            <a:solidFill>
              <a:srgbClr val="2E5AAC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53DC5B-A945-4227-981F-0B5AD98BDBD4}"/>
              </a:ext>
            </a:extLst>
          </p:cNvPr>
          <p:cNvSpPr>
            <a:spLocks noGrp="1"/>
          </p:cNvSpPr>
          <p:nvPr/>
        </p:nvSpPr>
        <p:spPr>
          <a:xfrm>
            <a:off x="1066800" y="3001633"/>
            <a:ext cx="20383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ID performance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CCC0E7-407D-4364-895A-CB27AF8D1825}"/>
              </a:ext>
            </a:extLst>
          </p:cNvPr>
          <p:cNvSpPr>
            <a:spLocks noGrp="1"/>
          </p:cNvSpPr>
          <p:nvPr/>
        </p:nvSpPr>
        <p:spPr>
          <a:xfrm>
            <a:off x="1066800" y="3363583"/>
            <a:ext cx="2038350" cy="10096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accuracy</a:t>
            </a:r>
          </a:p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nll</a:t>
            </a:r>
          </a:p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ece_15bin</a:t>
            </a:r>
          </a:p>
          <a:p>
            <a:pPr algn="l">
              <a:defRPr sz="105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temperature_scaled_ece_15bin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69EFBB3-3311-43D8-AF0A-2659B799BA8A}"/>
              </a:ext>
            </a:extLst>
          </p:cNvPr>
          <p:cNvSpPr>
            <a:spLocks noGrp="1"/>
          </p:cNvSpPr>
          <p:nvPr/>
        </p:nvSpPr>
        <p:spPr>
          <a:xfrm>
            <a:off x="3543300" y="2868283"/>
            <a:ext cx="2381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02FF83C-3A28-4C15-AFD9-73DEBFE5C306}"/>
              </a:ext>
            </a:extLst>
          </p:cNvPr>
          <p:cNvSpPr>
            <a:spLocks noGrp="1"/>
          </p:cNvSpPr>
          <p:nvPr/>
        </p:nvSpPr>
        <p:spPr>
          <a:xfrm>
            <a:off x="3543300" y="2868283"/>
            <a:ext cx="76200" cy="1619250"/>
          </a:xfrm>
          <a:prstGeom prst="rect">
            <a:avLst/>
          </a:prstGeom>
          <a:solidFill>
            <a:srgbClr val="138A8A"/>
          </a:solidFill>
          <a:ln w="9525">
            <a:solidFill>
              <a:srgbClr val="138A8A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542F6B-F6A0-4203-A68B-7E6AD995E628}"/>
              </a:ext>
            </a:extLst>
          </p:cNvPr>
          <p:cNvSpPr>
            <a:spLocks noGrp="1"/>
          </p:cNvSpPr>
          <p:nvPr/>
        </p:nvSpPr>
        <p:spPr>
          <a:xfrm>
            <a:off x="3733800" y="3001633"/>
            <a:ext cx="20383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OOD aggregate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254AF6-293D-4BF6-80C3-0CAD168CB464}"/>
              </a:ext>
            </a:extLst>
          </p:cNvPr>
          <p:cNvSpPr>
            <a:spLocks noGrp="1"/>
          </p:cNvSpPr>
          <p:nvPr/>
        </p:nvSpPr>
        <p:spPr>
          <a:xfrm>
            <a:off x="3733800" y="3363583"/>
            <a:ext cx="2038350" cy="10096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2569" lnSpcReduction="10000"/>
          </a:bodyPr>
          <a:lstStyle/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score convention: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higher = more ID-like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/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auroc ↑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fpr95 ↓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aupr_in ↑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8898813-EA42-41E6-9FA1-C094DD2F5E50}"/>
              </a:ext>
            </a:extLst>
          </p:cNvPr>
          <p:cNvSpPr>
            <a:spLocks noGrp="1"/>
          </p:cNvSpPr>
          <p:nvPr/>
        </p:nvSpPr>
        <p:spPr>
          <a:xfrm>
            <a:off x="6210300" y="2868283"/>
            <a:ext cx="52197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1FF690E-AF1C-4C2E-9CF3-7A67842A2524}"/>
              </a:ext>
            </a:extLst>
          </p:cNvPr>
          <p:cNvSpPr>
            <a:spLocks noGrp="1"/>
          </p:cNvSpPr>
          <p:nvPr/>
        </p:nvSpPr>
        <p:spPr>
          <a:xfrm>
            <a:off x="6210300" y="2868283"/>
            <a:ext cx="76200" cy="1619250"/>
          </a:xfrm>
          <a:prstGeom prst="rect">
            <a:avLst/>
          </a:prstGeom>
          <a:solidFill>
            <a:srgbClr val="C98512"/>
          </a:solidFill>
          <a:ln w="9525">
            <a:solidFill>
              <a:srgbClr val="C98512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57E92E8-EA90-40D2-845B-FD0114F0A479}"/>
              </a:ext>
            </a:extLst>
          </p:cNvPr>
          <p:cNvSpPr>
            <a:spLocks noGrp="1"/>
          </p:cNvSpPr>
          <p:nvPr/>
        </p:nvSpPr>
        <p:spPr>
          <a:xfrm>
            <a:off x="6400800" y="3001633"/>
            <a:ext cx="487680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Feature detector scores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319A07-D7F5-48A4-A6C8-596B9A3D10CD}"/>
              </a:ext>
            </a:extLst>
          </p:cNvPr>
          <p:cNvSpPr>
            <a:spLocks noGrp="1"/>
          </p:cNvSpPr>
          <p:nvPr/>
        </p:nvSpPr>
        <p:spPr>
          <a:xfrm>
            <a:off x="6400800" y="3363583"/>
            <a:ext cx="4876800" cy="10096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S_Maha</a:t>
            </a:r>
            <a:r>
              <a:rPr dirty="0"/>
              <a:t>(x) = -</a:t>
            </a:r>
            <a:r>
              <a:rPr dirty="0" err="1"/>
              <a:t>min_c</a:t>
            </a:r>
            <a:r>
              <a:rPr dirty="0"/>
              <a:t> (f-</a:t>
            </a:r>
            <a:r>
              <a:rPr dirty="0" err="1"/>
              <a:t>mu_c</a:t>
            </a:r>
            <a:r>
              <a:rPr dirty="0"/>
              <a:t>)^T Sigma^{-1}(f-</a:t>
            </a:r>
            <a:r>
              <a:rPr dirty="0" err="1"/>
              <a:t>mu_c</a:t>
            </a:r>
            <a:r>
              <a:rPr dirty="0"/>
              <a:t>)</a:t>
            </a:r>
          </a:p>
          <a:p>
            <a:pPr algn="l">
              <a:defRPr sz="112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S_DDU(x) = log </a:t>
            </a:r>
            <a:r>
              <a:rPr dirty="0" err="1"/>
              <a:t>sum_c</a:t>
            </a:r>
            <a:r>
              <a:rPr dirty="0"/>
              <a:t> </a:t>
            </a:r>
            <a:r>
              <a:rPr dirty="0" err="1"/>
              <a:t>pi_c</a:t>
            </a:r>
            <a:r>
              <a:rPr dirty="0"/>
              <a:t> N(f | </a:t>
            </a:r>
            <a:r>
              <a:rPr dirty="0" err="1"/>
              <a:t>mu_c</a:t>
            </a:r>
            <a:r>
              <a:rPr dirty="0"/>
              <a:t>, </a:t>
            </a:r>
            <a:r>
              <a:rPr dirty="0" err="1"/>
              <a:t>Sigma_c</a:t>
            </a:r>
            <a:r>
              <a:rPr dirty="0"/>
              <a:t>)</a:t>
            </a:r>
          </a:p>
          <a:p>
            <a:pPr algn="l">
              <a:defRPr sz="112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S_kNN</a:t>
            </a:r>
            <a:r>
              <a:rPr dirty="0"/>
              <a:t>(x) = -</a:t>
            </a:r>
            <a:r>
              <a:rPr dirty="0" err="1"/>
              <a:t>d_k</a:t>
            </a:r>
            <a:r>
              <a:rPr dirty="0"/>
              <a:t>(f, </a:t>
            </a:r>
            <a:r>
              <a:rPr dirty="0" err="1"/>
              <a:t>F_train</a:t>
            </a:r>
            <a:r>
              <a:rPr dirty="0"/>
              <a:t>)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9DE3190-0062-4EFA-A22E-63453365E9C2}"/>
              </a:ext>
            </a:extLst>
          </p:cNvPr>
          <p:cNvSpPr>
            <a:spLocks noGrp="1"/>
          </p:cNvSpPr>
          <p:nvPr/>
        </p:nvSpPr>
        <p:spPr>
          <a:xfrm>
            <a:off x="914400" y="4936466"/>
            <a:ext cx="103251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81751F0-578E-49BB-9A77-B10ECEE0960C}"/>
              </a:ext>
            </a:extLst>
          </p:cNvPr>
          <p:cNvSpPr>
            <a:spLocks noGrp="1"/>
          </p:cNvSpPr>
          <p:nvPr/>
        </p:nvSpPr>
        <p:spPr>
          <a:xfrm>
            <a:off x="1143000" y="5067300"/>
            <a:ext cx="171450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78431"/>
          </a:bodyPr>
          <a:lstStyle/>
          <a:p>
            <a:pPr algn="l">
              <a:defRPr sz="1275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Geometry panel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9B322F7-42B1-41D4-A4AF-F0CD2E6D1661}"/>
              </a:ext>
            </a:extLst>
          </p:cNvPr>
          <p:cNvSpPr>
            <a:spLocks noGrp="1"/>
          </p:cNvSpPr>
          <p:nvPr/>
        </p:nvSpPr>
        <p:spPr>
          <a:xfrm>
            <a:off x="1143000" y="5353050"/>
            <a:ext cx="986790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83333"/>
          </a:bodyPr>
          <a:lstStyle/>
          <a:p>
            <a:pPr algn="l">
              <a:defRPr sz="12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within_var · inter_dist_l2 · nc1 · nc2_mean_cos/etf · nc3_self_duality · nc4_agreement · anisotropy · effective_rank · feature_norm_stats</a:t>
            </a:r>
          </a:p>
        </p:txBody>
      </p:sp>
    </p:spTree>
    <p:extLst>
      <p:ext uri="{BB962C8B-B14F-4D97-AF65-F5344CB8AC3E}">
        <p14:creationId xmlns:p14="http://schemas.microsoft.com/office/powerpoint/2010/main" val="131538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E62BAFB-CB38-4116-9ADA-24E165B17D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F6F7F9"/>
            </a:solidFill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2BF5BA-90AD-4819-AEE9-327A62AFE6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213D"/>
          </a:solidFill>
          <a:ln w="0">
            <a:solidFill>
              <a:srgbClr val="F6F7F9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DEDAF1-A18D-46B6-B771-A89876D391CE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666750" cy="400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r">
              <a:defRPr sz="21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3D66DE-8938-4842-A17F-622C89A9A213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895350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975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Boundary: WRN350 full metrics are not confirmed until train → cache → post-hoc eval → manifest are complete.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228F0F-06AC-4DF3-B2EE-7860D4187EE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85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INTERPRETATION MAP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94EDE2-F283-403A-A500-4AC783158137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9906000" cy="781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6354"/>
          </a:bodyPr>
          <a:lstStyle/>
          <a:p>
            <a:pPr algn="l">
              <a:defRPr sz="24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Recovery/failure pattern이 어떤 geometry channel을 가리키는지 미리 정한다.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114681C-1C24-482E-AA2F-A03020A8CC88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10896600" cy="375285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EA406D-FD13-4F44-A920-E7C78001BB82}"/>
              </a:ext>
            </a:extLst>
          </p:cNvPr>
          <p:cNvSpPr>
            <a:spLocks noGrp="1"/>
          </p:cNvSpPr>
          <p:nvPr/>
        </p:nvSpPr>
        <p:spPr>
          <a:xfrm>
            <a:off x="857250" y="1733550"/>
            <a:ext cx="2952750" cy="2476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관찰될 패턴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22A413-2676-4B38-87EF-99C24BEFF65A}"/>
              </a:ext>
            </a:extLst>
          </p:cNvPr>
          <p:cNvSpPr>
            <a:spLocks noGrp="1"/>
          </p:cNvSpPr>
          <p:nvPr/>
        </p:nvSpPr>
        <p:spPr>
          <a:xfrm>
            <a:off x="4476750" y="1733550"/>
            <a:ext cx="3143250" cy="2476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가능한 해석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ABF179C-DF20-417B-85CE-34436AF41C92}"/>
              </a:ext>
            </a:extLst>
          </p:cNvPr>
          <p:cNvSpPr>
            <a:spLocks noGrp="1"/>
          </p:cNvSpPr>
          <p:nvPr/>
        </p:nvSpPr>
        <p:spPr>
          <a:xfrm>
            <a:off x="8191500" y="1733550"/>
            <a:ext cx="2571750" cy="2476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다음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62F90F-8009-4942-A45B-113FB859ACCE}"/>
              </a:ext>
            </a:extLst>
          </p:cNvPr>
          <p:cNvSpPr>
            <a:spLocks noGrp="1"/>
          </p:cNvSpPr>
          <p:nvPr/>
        </p:nvSpPr>
        <p:spPr>
          <a:xfrm>
            <a:off x="819150" y="2076450"/>
            <a:ext cx="10591800" cy="9525"/>
          </a:xfrm>
          <a:prstGeom prst="rect">
            <a:avLst/>
          </a:prstGeom>
          <a:solidFill>
            <a:srgbClr val="E8ECF3"/>
          </a:solidFill>
          <a:ln w="9525">
            <a:solidFill>
              <a:srgbClr val="E8ECF3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4B9B1A-49A1-486A-816C-580F13BD8C8B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314325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Maha/DDU만 악화, kNN 안정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1258FDB-27F8-4C54-836D-ABED35008559}"/>
              </a:ext>
            </a:extLst>
          </p:cNvPr>
          <p:cNvSpPr>
            <a:spLocks noGrp="1"/>
          </p:cNvSpPr>
          <p:nvPr/>
        </p:nvSpPr>
        <p:spPr>
          <a:xfrm>
            <a:off x="4476750" y="2133600"/>
            <a:ext cx="314325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covariance estimation 또는 Gaussian/tied-covariance assumption 문제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3BFC5C-3B4E-4C35-B236-0E3C466295E2}"/>
              </a:ext>
            </a:extLst>
          </p:cNvPr>
          <p:cNvSpPr>
            <a:spLocks noGrp="1"/>
          </p:cNvSpPr>
          <p:nvPr/>
        </p:nvSpPr>
        <p:spPr>
          <a:xfrm>
            <a:off x="8191500" y="2133600"/>
            <a:ext cx="285750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tied / diag / shrinkage GMM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FAC989-15C2-4B31-8729-6382542B0CCC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10591800" cy="9525"/>
          </a:xfrm>
          <a:prstGeom prst="rect">
            <a:avLst/>
          </a:prstGeom>
          <a:solidFill>
            <a:srgbClr val="E8ECF3"/>
          </a:solidFill>
          <a:ln w="9525">
            <a:solidFill>
              <a:srgbClr val="E8ECF3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73A6E49-7F5E-4673-8C78-3F13A4C91879}"/>
              </a:ext>
            </a:extLst>
          </p:cNvPr>
          <p:cNvSpPr>
            <a:spLocks noGrp="1"/>
          </p:cNvSpPr>
          <p:nvPr/>
        </p:nvSpPr>
        <p:spPr>
          <a:xfrm>
            <a:off x="857250" y="2743200"/>
            <a:ext cx="314325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mahalanobis_l2가 회복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8B3DE3-9D68-4597-8921-9330755415EA}"/>
              </a:ext>
            </a:extLst>
          </p:cNvPr>
          <p:cNvSpPr>
            <a:spLocks noGrp="1"/>
          </p:cNvSpPr>
          <p:nvPr/>
        </p:nvSpPr>
        <p:spPr>
          <a:xfrm>
            <a:off x="4476750" y="2743200"/>
            <a:ext cx="314325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feature norm 또는 covariance scale channel이 주요 원인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55FBF4-1E59-487C-B2B7-8746AB330DFC}"/>
              </a:ext>
            </a:extLst>
          </p:cNvPr>
          <p:cNvSpPr>
            <a:spLocks noGrp="1"/>
          </p:cNvSpPr>
          <p:nvPr/>
        </p:nvSpPr>
        <p:spPr>
          <a:xfrm>
            <a:off x="8191500" y="2743200"/>
            <a:ext cx="285750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feature_norm_stats, eigenspectrum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B8208F2-AD55-411E-988D-A7ECCB6DE7F0}"/>
              </a:ext>
            </a:extLst>
          </p:cNvPr>
          <p:cNvSpPr>
            <a:spLocks noGrp="1"/>
          </p:cNvSpPr>
          <p:nvPr/>
        </p:nvSpPr>
        <p:spPr>
          <a:xfrm>
            <a:off x="819150" y="3295650"/>
            <a:ext cx="10591800" cy="9525"/>
          </a:xfrm>
          <a:prstGeom prst="rect">
            <a:avLst/>
          </a:prstGeom>
          <a:solidFill>
            <a:srgbClr val="E8ECF3"/>
          </a:solidFill>
          <a:ln w="9525">
            <a:solidFill>
              <a:srgbClr val="E8ECF3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46E717-64AD-4911-8A0D-E86D927670AB}"/>
              </a:ext>
            </a:extLst>
          </p:cNvPr>
          <p:cNvSpPr>
            <a:spLocks noGrp="1"/>
          </p:cNvSpPr>
          <p:nvPr/>
        </p:nvSpPr>
        <p:spPr>
          <a:xfrm>
            <a:off x="857250" y="3352800"/>
            <a:ext cx="314325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kNN까지 악화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CAFCC57-DFA6-4EFC-9805-F6A881EB6502}"/>
              </a:ext>
            </a:extLst>
          </p:cNvPr>
          <p:cNvSpPr>
            <a:spLocks noGrp="1"/>
          </p:cNvSpPr>
          <p:nvPr/>
        </p:nvSpPr>
        <p:spPr>
          <a:xfrm>
            <a:off x="4476750" y="3352800"/>
            <a:ext cx="314325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local neighborhood 또는 class separation geometry 손상 가능성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8A8A975-17C7-4E79-82BB-95A8DB51EBB8}"/>
              </a:ext>
            </a:extLst>
          </p:cNvPr>
          <p:cNvSpPr>
            <a:spLocks noGrp="1"/>
          </p:cNvSpPr>
          <p:nvPr/>
        </p:nvSpPr>
        <p:spPr>
          <a:xfrm>
            <a:off x="8191500" y="3352800"/>
            <a:ext cx="285750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kNN_l2, inter_dist_l2, NC2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FC7CD96-BAFB-4DB9-86FA-812528B340E4}"/>
              </a:ext>
            </a:extLst>
          </p:cNvPr>
          <p:cNvSpPr>
            <a:spLocks noGrp="1"/>
          </p:cNvSpPr>
          <p:nvPr/>
        </p:nvSpPr>
        <p:spPr>
          <a:xfrm>
            <a:off x="819150" y="3905250"/>
            <a:ext cx="10591800" cy="9525"/>
          </a:xfrm>
          <a:prstGeom prst="rect">
            <a:avLst/>
          </a:prstGeom>
          <a:solidFill>
            <a:srgbClr val="E8ECF3"/>
          </a:solidFill>
          <a:ln w="9525">
            <a:solidFill>
              <a:srgbClr val="E8ECF3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C59A3E1-C53B-4A1D-9E31-A812B45F98E8}"/>
              </a:ext>
            </a:extLst>
          </p:cNvPr>
          <p:cNvSpPr>
            <a:spLocks noGrp="1"/>
          </p:cNvSpPr>
          <p:nvPr/>
        </p:nvSpPr>
        <p:spPr>
          <a:xfrm>
            <a:off x="857250" y="3962400"/>
            <a:ext cx="314325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NC metric들이 서로 다르게 움직임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8160B60-6AFD-4B52-8BDD-D9344E373126}"/>
              </a:ext>
            </a:extLst>
          </p:cNvPr>
          <p:cNvSpPr>
            <a:spLocks noGrp="1"/>
          </p:cNvSpPr>
          <p:nvPr/>
        </p:nvSpPr>
        <p:spPr>
          <a:xfrm>
            <a:off x="4476750" y="3962400"/>
            <a:ext cx="314325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NC is not one geometry 논리 강화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A97DE11-B2D7-4D6E-8376-DE0AA19CA0ED}"/>
              </a:ext>
            </a:extLst>
          </p:cNvPr>
          <p:cNvSpPr>
            <a:spLocks noGrp="1"/>
          </p:cNvSpPr>
          <p:nvPr/>
        </p:nvSpPr>
        <p:spPr>
          <a:xfrm>
            <a:off x="8191500" y="3962400"/>
            <a:ext cx="285750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nc1 vs nc2 vs nc3 분리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E4DF949-633B-4FF1-9D50-B680315224A8}"/>
              </a:ext>
            </a:extLst>
          </p:cNvPr>
          <p:cNvSpPr>
            <a:spLocks noGrp="1"/>
          </p:cNvSpPr>
          <p:nvPr/>
        </p:nvSpPr>
        <p:spPr>
          <a:xfrm>
            <a:off x="819150" y="4514850"/>
            <a:ext cx="10591800" cy="9525"/>
          </a:xfrm>
          <a:prstGeom prst="rect">
            <a:avLst/>
          </a:prstGeom>
          <a:solidFill>
            <a:srgbClr val="E8ECF3"/>
          </a:solidFill>
          <a:ln w="9525">
            <a:solidFill>
              <a:srgbClr val="E8ECF3"/>
            </a:solidFill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7C31C3D-F67C-48B2-9825-5E4A89CA8203}"/>
              </a:ext>
            </a:extLst>
          </p:cNvPr>
          <p:cNvSpPr>
            <a:spLocks noGrp="1"/>
          </p:cNvSpPr>
          <p:nvPr/>
        </p:nvSpPr>
        <p:spPr>
          <a:xfrm>
            <a:off x="857250" y="4572000"/>
            <a:ext cx="314325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Logit detector 안정, feature detector 흔들림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5DE2748-90BB-4638-8D64-1DA38ABC687E}"/>
              </a:ext>
            </a:extLst>
          </p:cNvPr>
          <p:cNvSpPr>
            <a:spLocks noGrp="1"/>
          </p:cNvSpPr>
          <p:nvPr/>
        </p:nvSpPr>
        <p:spPr>
          <a:xfrm>
            <a:off x="4476750" y="4572000"/>
            <a:ext cx="314325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output confidence와 feature-space reliability가 분리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49C73F0-657E-432E-B6A6-A55B3D354357}"/>
              </a:ext>
            </a:extLst>
          </p:cNvPr>
          <p:cNvSpPr>
            <a:spLocks noGrp="1"/>
          </p:cNvSpPr>
          <p:nvPr/>
        </p:nvSpPr>
        <p:spPr>
          <a:xfrm>
            <a:off x="8191500" y="4572000"/>
            <a:ext cx="2857500" cy="4762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Energy/MSP vs Maha/DDU/kNN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CD41091-6623-4B10-A325-5B9E7C9E3848}"/>
              </a:ext>
            </a:extLst>
          </p:cNvPr>
          <p:cNvSpPr>
            <a:spLocks noGrp="1"/>
          </p:cNvSpPr>
          <p:nvPr/>
        </p:nvSpPr>
        <p:spPr>
          <a:xfrm>
            <a:off x="1371600" y="5619750"/>
            <a:ext cx="9448800" cy="381000"/>
          </a:xfrm>
          <a:prstGeom prst="roundRect">
            <a:avLst>
              <a:gd name="adj" fmla="val 20000"/>
            </a:avLst>
          </a:prstGeom>
          <a:solidFill>
            <a:srgbClr val="FFF6E7"/>
          </a:solidFill>
          <a:ln w="9525">
            <a:solidFill>
              <a:srgbClr val="F0D7A3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7C4A791-DEC5-4E69-B3AB-A2043F51BE57}"/>
              </a:ext>
            </a:extLst>
          </p:cNvPr>
          <p:cNvSpPr>
            <a:spLocks noGrp="1"/>
          </p:cNvSpPr>
          <p:nvPr/>
        </p:nvSpPr>
        <p:spPr>
          <a:xfrm>
            <a:off x="1562100" y="5695950"/>
            <a:ext cx="9067800" cy="2286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74074"/>
          </a:bodyPr>
          <a:lstStyle/>
          <a:p>
            <a:pPr algn="ctr">
              <a:def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t>Detector recovery는 반박이 아니라 mechanism signal이다.</a:t>
            </a:r>
          </a:p>
        </p:txBody>
      </p:sp>
    </p:spTree>
    <p:extLst>
      <p:ext uri="{BB962C8B-B14F-4D97-AF65-F5344CB8AC3E}">
        <p14:creationId xmlns:p14="http://schemas.microsoft.com/office/powerpoint/2010/main" val="1216422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CF3210-F538-480F-A30F-12FC47F5C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0">
            <a:solidFill>
              <a:srgbClr val="F6F7F9"/>
            </a:solidFill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98B229-82B8-4A5B-864B-1FCA54BF1D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213D"/>
          </a:solidFill>
          <a:ln w="0">
            <a:solidFill>
              <a:srgbClr val="F6F7F9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63B351-F408-488B-AC30-852EEE3821C8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666750" cy="400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r">
              <a:defRPr sz="21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t>10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8B82E4-8C35-4559-B1C7-F86BA041C3D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857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050" b="1">
                <a:solidFill>
                  <a:srgbClr val="138A8A"/>
                </a:solidFill>
                <a:latin typeface="Malgun Gothic"/>
                <a:ea typeface="Malgun Gothic"/>
                <a:cs typeface="Malgun Gothic"/>
              </a:defRPr>
            </a:pPr>
            <a:r>
              <a:t>DECISIONS TO CONFIRM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1AAC63-E174-4C9F-8258-1EECFF07D916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706100" cy="7810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6354"/>
          </a:bodyPr>
          <a:lstStyle/>
          <a:p>
            <a:pPr algn="l">
              <a:defRPr sz="24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단계는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해석이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protocol </a:t>
            </a:r>
            <a:r>
              <a:rPr dirty="0" err="1"/>
              <a:t>lock과</a:t>
            </a:r>
            <a:r>
              <a:rPr dirty="0"/>
              <a:t> evidence </a:t>
            </a:r>
            <a:r>
              <a:rPr dirty="0" err="1"/>
              <a:t>boundary를</a:t>
            </a:r>
            <a:r>
              <a:rPr lang="en-US" dirty="0"/>
              <a:t> </a:t>
            </a:r>
            <a:r>
              <a:rPr lang="ko-KR" altLang="en-US" dirty="0"/>
              <a:t>확정</a:t>
            </a:r>
            <a:endParaRPr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F4F39E0-7824-498C-86A3-51AEEF131C1D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7C37E9F-56E5-4680-ABCD-2F09346A385E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76200" cy="2095500"/>
          </a:xfrm>
          <a:prstGeom prst="rect">
            <a:avLst/>
          </a:prstGeom>
          <a:solidFill>
            <a:srgbClr val="138A8A"/>
          </a:solidFill>
          <a:ln w="9525">
            <a:solidFill>
              <a:srgbClr val="138A8A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0CD45D-38E3-447A-B9E6-4D1658C4EB0B}"/>
              </a:ext>
            </a:extLst>
          </p:cNvPr>
          <p:cNvSpPr>
            <a:spLocks noGrp="1"/>
          </p:cNvSpPr>
          <p:nvPr/>
        </p:nvSpPr>
        <p:spPr>
          <a:xfrm>
            <a:off x="1104900" y="1828800"/>
            <a:ext cx="28003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1. Matched protocol first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C5CB52C-B4F6-4FDB-9C52-766B87C1F75D}"/>
              </a:ext>
            </a:extLst>
          </p:cNvPr>
          <p:cNvSpPr>
            <a:spLocks noGrp="1"/>
          </p:cNvSpPr>
          <p:nvPr/>
        </p:nvSpPr>
        <p:spPr>
          <a:xfrm>
            <a:off x="1104900" y="2190750"/>
            <a:ext cx="2800350" cy="14859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WRN350 SGD anchor → Adam/AdamW → controlled r axis.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/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optimizer 외 조건을 고정한 첫 paper-scale anchor.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BF58E1A-754E-4765-85BB-9ACD50A17B1B}"/>
              </a:ext>
            </a:extLst>
          </p:cNvPr>
          <p:cNvSpPr>
            <a:spLocks noGrp="1"/>
          </p:cNvSpPr>
          <p:nvPr/>
        </p:nvSpPr>
        <p:spPr>
          <a:xfrm>
            <a:off x="4533900" y="1695450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CB8B6E-0BA0-405C-A9CC-904D057AEEAA}"/>
              </a:ext>
            </a:extLst>
          </p:cNvPr>
          <p:cNvSpPr>
            <a:spLocks noGrp="1"/>
          </p:cNvSpPr>
          <p:nvPr/>
        </p:nvSpPr>
        <p:spPr>
          <a:xfrm>
            <a:off x="4533900" y="1695450"/>
            <a:ext cx="76200" cy="2095500"/>
          </a:xfrm>
          <a:prstGeom prst="rect">
            <a:avLst/>
          </a:prstGeom>
          <a:solidFill>
            <a:srgbClr val="2E5AAC"/>
          </a:solidFill>
          <a:ln w="9525">
            <a:solidFill>
              <a:srgbClr val="2E5AAC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44B04D-A6CA-48FA-9DD7-ABC958FC6320}"/>
              </a:ext>
            </a:extLst>
          </p:cNvPr>
          <p:cNvSpPr>
            <a:spLocks noGrp="1"/>
          </p:cNvSpPr>
          <p:nvPr/>
        </p:nvSpPr>
        <p:spPr>
          <a:xfrm>
            <a:off x="4724400" y="1828800"/>
            <a:ext cx="28003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2. ID-tuned protocol second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F2913E-014F-4EFA-89E3-B98EC08DF22F}"/>
              </a:ext>
            </a:extLst>
          </p:cNvPr>
          <p:cNvSpPr>
            <a:spLocks noGrp="1"/>
          </p:cNvSpPr>
          <p:nvPr/>
        </p:nvSpPr>
        <p:spPr>
          <a:xfrm>
            <a:off x="4724400" y="2190750"/>
            <a:ext cx="2800350" cy="14859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validation accuracy primary, NLL/ECE tie-break.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/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Adam/AdamW를 tune하면 SGD도 같은 layer에서 tune.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2646C7D-620F-40A5-B1D7-456A8FC1C609}"/>
              </a:ext>
            </a:extLst>
          </p:cNvPr>
          <p:cNvSpPr>
            <a:spLocks noGrp="1"/>
          </p:cNvSpPr>
          <p:nvPr/>
        </p:nvSpPr>
        <p:spPr>
          <a:xfrm>
            <a:off x="8153400" y="1695450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6EF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F58E03E-E301-43CF-B284-7AC8FB2C78C4}"/>
              </a:ext>
            </a:extLst>
          </p:cNvPr>
          <p:cNvSpPr>
            <a:spLocks noGrp="1"/>
          </p:cNvSpPr>
          <p:nvPr/>
        </p:nvSpPr>
        <p:spPr>
          <a:xfrm>
            <a:off x="8153400" y="1695450"/>
            <a:ext cx="76200" cy="2095500"/>
          </a:xfrm>
          <a:prstGeom prst="rect">
            <a:avLst/>
          </a:prstGeom>
          <a:solidFill>
            <a:srgbClr val="C98512"/>
          </a:solidFill>
          <a:ln w="9525">
            <a:solidFill>
              <a:srgbClr val="C98512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ED6D69-EF04-412C-A54C-23E4718C4A67}"/>
              </a:ext>
            </a:extLst>
          </p:cNvPr>
          <p:cNvSpPr>
            <a:spLocks noGrp="1"/>
          </p:cNvSpPr>
          <p:nvPr/>
        </p:nvSpPr>
        <p:spPr>
          <a:xfrm>
            <a:off x="8343900" y="1828800"/>
            <a:ext cx="280035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3. Metric table lock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EB110C4-1594-4040-8135-C73DAFDA670C}"/>
              </a:ext>
            </a:extLst>
          </p:cNvPr>
          <p:cNvSpPr>
            <a:spLocks noGrp="1"/>
          </p:cNvSpPr>
          <p:nvPr/>
        </p:nvSpPr>
        <p:spPr>
          <a:xfrm>
            <a:off x="8343900" y="2190750"/>
            <a:ext cx="2800350" cy="14859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logit → hybrid → distance → density → NC/prototype.</a:t>
            </a:r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endParaRPr/>
          </a:p>
          <a:p>
            <a:pPr algn="l">
              <a:defRPr sz="1200" b="0">
                <a:solidFill>
                  <a:srgbClr val="5E6677"/>
                </a:solidFill>
                <a:latin typeface="Malgun Gothic"/>
                <a:ea typeface="Malgun Gothic"/>
                <a:cs typeface="Malgun Gothic"/>
              </a:defRPr>
            </a:pPr>
            <a:r>
              <a:t>neco_lite는 official NECO가 아니라 diagnostic.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C342BA6-62F2-4C73-9614-5C233A4841B2}"/>
              </a:ext>
            </a:extLst>
          </p:cNvPr>
          <p:cNvSpPr>
            <a:spLocks noGrp="1"/>
          </p:cNvSpPr>
          <p:nvPr/>
        </p:nvSpPr>
        <p:spPr>
          <a:xfrm>
            <a:off x="1066800" y="4362450"/>
            <a:ext cx="10058400" cy="914400"/>
          </a:xfrm>
          <a:prstGeom prst="roundRect">
            <a:avLst>
              <a:gd name="adj" fmla="val 8333"/>
            </a:avLst>
          </a:prstGeom>
          <a:solidFill>
            <a:srgbClr val="FFF3F1"/>
          </a:solidFill>
          <a:ln w="9525">
            <a:solidFill>
              <a:srgbClr val="E7B8B5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7FCB934-29B3-4DF2-9459-5F3E1317943F}"/>
              </a:ext>
            </a:extLst>
          </p:cNvPr>
          <p:cNvSpPr>
            <a:spLocks noGrp="1"/>
          </p:cNvSpPr>
          <p:nvPr/>
        </p:nvSpPr>
        <p:spPr>
          <a:xfrm>
            <a:off x="1314450" y="4514850"/>
            <a:ext cx="3238500" cy="26670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2593"/>
          </a:bodyPr>
          <a:lstStyle/>
          <a:p>
            <a:pPr algn="l">
              <a:defRPr sz="1350" b="1">
                <a:solidFill>
                  <a:srgbClr val="B94A48"/>
                </a:solidFill>
                <a:latin typeface="Malgun Gothic"/>
                <a:ea typeface="Malgun Gothic"/>
                <a:cs typeface="Malgun Gothic"/>
              </a:defRPr>
            </a:pPr>
            <a:r>
              <a:t>Evidence boundary to preserve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86E8D8D-8DDC-417B-8A44-E668775A1089}"/>
              </a:ext>
            </a:extLst>
          </p:cNvPr>
          <p:cNvSpPr>
            <a:spLocks noGrp="1"/>
          </p:cNvSpPr>
          <p:nvPr/>
        </p:nvSpPr>
        <p:spPr>
          <a:xfrm>
            <a:off x="1314450" y="4857750"/>
            <a:ext cx="948690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72778"/>
          </a:bodyPr>
          <a:lstStyle/>
          <a:p>
            <a:pPr algn="l">
              <a:defRPr sz="12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t>WRN350 full result는 manifest 전까지 confirmed result로 쓰지 않는다. M1 smoke는 pipeline validation으로만 언급한다. Optimizer/NC 논문은 detector failure의 직접 근거가 아니다.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B67C641-00D4-4142-B8CB-156F7826A0B5}"/>
              </a:ext>
            </a:extLst>
          </p:cNvPr>
          <p:cNvSpPr>
            <a:spLocks noGrp="1"/>
          </p:cNvSpPr>
          <p:nvPr/>
        </p:nvSpPr>
        <p:spPr>
          <a:xfrm>
            <a:off x="1409700" y="5638800"/>
            <a:ext cx="9372600" cy="323850"/>
          </a:xfrm>
          <a:prstGeom prst="rect">
            <a:avLst/>
          </a:prstGeom>
          <a:noFill/>
          <a:ln w="0">
            <a:solidFill>
              <a:srgbClr val="F6F7F9"/>
            </a:solidFill>
          </a:ln>
        </p:spPr>
        <p:txBody>
          <a:bodyPr lIns="57150" tIns="38100" rIns="57150" bIns="38100" anchor="t">
            <a:normAutofit fontScale="99307"/>
          </a:bodyPr>
          <a:lstStyle/>
          <a:p>
            <a:pPr algn="ctr">
              <a:defRPr sz="15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이 </a:t>
            </a:r>
            <a:r>
              <a:rPr dirty="0" err="1"/>
              <a:t>protocol과</a:t>
            </a:r>
            <a:r>
              <a:rPr dirty="0"/>
              <a:t> metric </a:t>
            </a:r>
            <a:r>
              <a:rPr dirty="0" err="1"/>
              <a:t>contract로</a:t>
            </a:r>
            <a:r>
              <a:rPr dirty="0"/>
              <a:t> Adam/</a:t>
            </a:r>
            <a:r>
              <a:rPr dirty="0" err="1"/>
              <a:t>AdamW</a:t>
            </a:r>
            <a:r>
              <a:rPr dirty="0"/>
              <a:t>/WD-coupling </a:t>
            </a:r>
            <a:r>
              <a:rPr dirty="0" err="1"/>
              <a:t>본실험을</a:t>
            </a:r>
            <a:r>
              <a:rPr dirty="0"/>
              <a:t> </a:t>
            </a:r>
            <a:r>
              <a:rPr dirty="0" err="1"/>
              <a:t>진행해도</a:t>
            </a:r>
            <a:r>
              <a:rPr dirty="0"/>
              <a:t> </a:t>
            </a:r>
            <a:r>
              <a:rPr dirty="0" err="1"/>
              <a:t>되는가</a:t>
            </a:r>
            <a:r>
              <a:rPr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105421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1405</Words>
  <Application>Microsoft Office PowerPoint</Application>
  <DocSecurity>0</DocSecurity>
  <PresentationFormat>와이드스크린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</cp:lastModifiedBy>
  <cp:revision>1</cp:revision>
  <dcterms:created xsi:type="dcterms:W3CDTF">2026-05-20T06:27:35Z</dcterms:created>
  <dcterms:modified xsi:type="dcterms:W3CDTF">2026-05-20T06:38:21Z</dcterms:modified>
</cp:coreProperties>
</file>